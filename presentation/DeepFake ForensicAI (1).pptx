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Akzidenz-Grotesk Bold" charset="1" panose="02000803050000020004"/>
      <p:regular r:id="rId21"/>
    </p:embeddedFont>
    <p:embeddedFont>
      <p:font typeface="Open Sans" charset="1" panose="00000000000000000000"/>
      <p:regular r:id="rId22"/>
    </p:embeddedFont>
    <p:embeddedFont>
      <p:font typeface="IBM Plex Mono" charset="1" panose="020B0509050203000203"/>
      <p:regular r:id="rId23"/>
    </p:embeddedFont>
    <p:embeddedFont>
      <p:font typeface="IBM Plex Mono Bold" charset="1" panose="020B0809050203000203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668000" y="523875"/>
            <a:ext cx="6858000" cy="9001125"/>
            <a:chOff x="0" y="0"/>
            <a:chExt cx="9144000" cy="12001500"/>
          </a:xfrm>
        </p:grpSpPr>
        <p:sp>
          <p:nvSpPr>
            <p:cNvPr name="AutoShape 3" id="3"/>
            <p:cNvSpPr/>
            <p:nvPr/>
          </p:nvSpPr>
          <p:spPr>
            <a:xfrm>
              <a:off x="0" y="444500"/>
              <a:ext cx="9144000" cy="0"/>
            </a:xfrm>
            <a:prstGeom prst="line">
              <a:avLst/>
            </a:prstGeom>
            <a:ln cap="flat" w="254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" id="4"/>
            <p:cNvSpPr/>
            <p:nvPr/>
          </p:nvSpPr>
          <p:spPr>
            <a:xfrm>
              <a:off x="889000" y="0"/>
              <a:ext cx="0" cy="12001500"/>
            </a:xfrm>
            <a:prstGeom prst="line">
              <a:avLst/>
            </a:prstGeom>
            <a:ln cap="flat" w="127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" id="5"/>
            <p:cNvSpPr/>
            <p:nvPr/>
          </p:nvSpPr>
          <p:spPr>
            <a:xfrm>
              <a:off x="889000" y="2286000"/>
              <a:ext cx="8255000" cy="0"/>
            </a:xfrm>
            <a:prstGeom prst="line">
              <a:avLst/>
            </a:prstGeom>
            <a:ln cap="flat" w="254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" id="6"/>
            <p:cNvSpPr/>
            <p:nvPr/>
          </p:nvSpPr>
          <p:spPr>
            <a:xfrm>
              <a:off x="2413000" y="0"/>
              <a:ext cx="0" cy="12001500"/>
            </a:xfrm>
            <a:prstGeom prst="line">
              <a:avLst/>
            </a:prstGeom>
            <a:ln cap="flat" w="127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" id="7"/>
            <p:cNvSpPr/>
            <p:nvPr/>
          </p:nvSpPr>
          <p:spPr>
            <a:xfrm>
              <a:off x="1778000" y="4127500"/>
              <a:ext cx="7366000" cy="0"/>
            </a:xfrm>
            <a:prstGeom prst="line">
              <a:avLst/>
            </a:prstGeom>
            <a:ln cap="flat" w="254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" id="8"/>
            <p:cNvSpPr/>
            <p:nvPr/>
          </p:nvSpPr>
          <p:spPr>
            <a:xfrm>
              <a:off x="3937000" y="0"/>
              <a:ext cx="0" cy="12001500"/>
            </a:xfrm>
            <a:prstGeom prst="line">
              <a:avLst/>
            </a:prstGeom>
            <a:ln cap="flat" w="127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" id="9"/>
            <p:cNvSpPr/>
            <p:nvPr/>
          </p:nvSpPr>
          <p:spPr>
            <a:xfrm>
              <a:off x="2667000" y="5969000"/>
              <a:ext cx="6477000" cy="0"/>
            </a:xfrm>
            <a:prstGeom prst="line">
              <a:avLst/>
            </a:prstGeom>
            <a:ln cap="flat" w="254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0" id="10"/>
            <p:cNvSpPr/>
            <p:nvPr/>
          </p:nvSpPr>
          <p:spPr>
            <a:xfrm>
              <a:off x="5461000" y="0"/>
              <a:ext cx="0" cy="12001500"/>
            </a:xfrm>
            <a:prstGeom prst="line">
              <a:avLst/>
            </a:prstGeom>
            <a:ln cap="flat" w="127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1" id="11"/>
            <p:cNvSpPr/>
            <p:nvPr/>
          </p:nvSpPr>
          <p:spPr>
            <a:xfrm>
              <a:off x="3556000" y="7810500"/>
              <a:ext cx="5588000" cy="0"/>
            </a:xfrm>
            <a:prstGeom prst="line">
              <a:avLst/>
            </a:prstGeom>
            <a:ln cap="flat" w="254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2" id="12"/>
            <p:cNvSpPr/>
            <p:nvPr/>
          </p:nvSpPr>
          <p:spPr>
            <a:xfrm>
              <a:off x="6985000" y="0"/>
              <a:ext cx="0" cy="12001500"/>
            </a:xfrm>
            <a:prstGeom prst="line">
              <a:avLst/>
            </a:prstGeom>
            <a:ln cap="flat" w="127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3" id="13"/>
            <p:cNvSpPr/>
            <p:nvPr/>
          </p:nvSpPr>
          <p:spPr>
            <a:xfrm>
              <a:off x="4445000" y="9652000"/>
              <a:ext cx="4699000" cy="0"/>
            </a:xfrm>
            <a:prstGeom prst="line">
              <a:avLst/>
            </a:prstGeom>
            <a:ln cap="flat" w="254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4" id="14"/>
            <p:cNvSpPr/>
            <p:nvPr/>
          </p:nvSpPr>
          <p:spPr>
            <a:xfrm>
              <a:off x="8509000" y="0"/>
              <a:ext cx="0" cy="12001500"/>
            </a:xfrm>
            <a:prstGeom prst="line">
              <a:avLst/>
            </a:prstGeom>
            <a:ln cap="flat" w="127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914400" y="2019300"/>
            <a:ext cx="9334500" cy="2292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32"/>
              </a:lnSpc>
            </a:pPr>
            <a:r>
              <a:rPr lang="en-US" sz="8400" b="true">
                <a:solidFill>
                  <a:srgbClr val="06B6D4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DeepFake</a:t>
            </a:r>
          </a:p>
          <a:p>
            <a:pPr algn="l">
              <a:lnSpc>
                <a:spcPts val="8232"/>
              </a:lnSpc>
            </a:pPr>
            <a:r>
              <a:rPr lang="en-US" sz="8400" b="true">
                <a:solidFill>
                  <a:srgbClr val="06B6D4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ForensicAI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14400" y="4543425"/>
            <a:ext cx="8096250" cy="366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Deepfake Detection for Criminal Investigations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56733" y="5475817"/>
            <a:ext cx="8096250" cy="3978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2"/>
              </a:lnSpc>
            </a:pPr>
            <a:r>
              <a:rPr lang="en-US" sz="2149">
                <a:solidFill>
                  <a:srgbClr val="67E8F9"/>
                </a:solidFill>
                <a:latin typeface="IBM Plex Mono"/>
                <a:ea typeface="IBM Plex Mono"/>
                <a:cs typeface="IBM Plex Mono"/>
                <a:sym typeface="IBM Plex Mono"/>
              </a:rPr>
              <a:t>Team Name : </a:t>
            </a:r>
          </a:p>
          <a:p>
            <a:pPr algn="l">
              <a:lnSpc>
                <a:spcPts val="2902"/>
              </a:lnSpc>
            </a:pPr>
            <a:r>
              <a:rPr lang="en-US" sz="2149">
                <a:solidFill>
                  <a:srgbClr val="67E8F9"/>
                </a:solidFill>
                <a:latin typeface="IBM Plex Mono"/>
                <a:ea typeface="IBM Plex Mono"/>
                <a:cs typeface="IBM Plex Mono"/>
                <a:sym typeface="IBM Plex Mono"/>
              </a:rPr>
              <a:t>MTech AI </a:t>
            </a:r>
          </a:p>
          <a:p>
            <a:pPr algn="l">
              <a:lnSpc>
                <a:spcPts val="2902"/>
              </a:lnSpc>
            </a:pPr>
            <a:r>
              <a:rPr lang="en-US" sz="2149">
                <a:solidFill>
                  <a:srgbClr val="67E8F9"/>
                </a:solidFill>
                <a:latin typeface="IBM Plex Mono"/>
                <a:ea typeface="IBM Plex Mono"/>
                <a:cs typeface="IBM Plex Mono"/>
                <a:sym typeface="IBM Plex Mono"/>
              </a:rPr>
              <a:t>| </a:t>
            </a:r>
          </a:p>
          <a:p>
            <a:pPr algn="l">
              <a:lnSpc>
                <a:spcPts val="2902"/>
              </a:lnSpc>
            </a:pPr>
            <a:r>
              <a:rPr lang="en-US" sz="2149">
                <a:solidFill>
                  <a:srgbClr val="67E8F9"/>
                </a:solidFill>
                <a:latin typeface="IBM Plex Mono"/>
                <a:ea typeface="IBM Plex Mono"/>
                <a:cs typeface="IBM Plex Mono"/>
                <a:sym typeface="IBM Plex Mono"/>
              </a:rPr>
              <a:t>Track: Cyber Forensics </a:t>
            </a:r>
          </a:p>
          <a:p>
            <a:pPr algn="l">
              <a:lnSpc>
                <a:spcPts val="2902"/>
              </a:lnSpc>
            </a:pPr>
          </a:p>
          <a:p>
            <a:pPr algn="l">
              <a:lnSpc>
                <a:spcPts val="2902"/>
              </a:lnSpc>
            </a:pPr>
          </a:p>
          <a:p>
            <a:pPr algn="l">
              <a:lnSpc>
                <a:spcPts val="2902"/>
              </a:lnSpc>
            </a:pPr>
            <a:r>
              <a:rPr lang="en-US" sz="2149">
                <a:solidFill>
                  <a:srgbClr val="67E8F9"/>
                </a:solidFill>
                <a:latin typeface="IBM Plex Mono"/>
                <a:ea typeface="IBM Plex Mono"/>
                <a:cs typeface="IBM Plex Mono"/>
                <a:sym typeface="IBM Plex Mono"/>
              </a:rPr>
              <a:t>Team Members:</a:t>
            </a:r>
          </a:p>
          <a:p>
            <a:pPr algn="l">
              <a:lnSpc>
                <a:spcPts val="2902"/>
              </a:lnSpc>
            </a:pPr>
            <a:r>
              <a:rPr lang="en-US" sz="2149">
                <a:solidFill>
                  <a:srgbClr val="67E8F9"/>
                </a:solidFill>
                <a:latin typeface="IBM Plex Mono"/>
                <a:ea typeface="IBM Plex Mono"/>
                <a:cs typeface="IBM Plex Mono"/>
                <a:sym typeface="IBM Plex Mono"/>
              </a:rPr>
              <a:t>-Dhruv Yadav</a:t>
            </a:r>
          </a:p>
          <a:p>
            <a:pPr algn="l">
              <a:lnSpc>
                <a:spcPts val="2902"/>
              </a:lnSpc>
            </a:pPr>
            <a:r>
              <a:rPr lang="en-US" sz="2149">
                <a:solidFill>
                  <a:srgbClr val="67E8F9"/>
                </a:solidFill>
                <a:latin typeface="IBM Plex Mono"/>
                <a:ea typeface="IBM Plex Mono"/>
                <a:cs typeface="IBM Plex Mono"/>
                <a:sym typeface="IBM Plex Mono"/>
              </a:rPr>
              <a:t>-Rishabh Narayan</a:t>
            </a:r>
          </a:p>
          <a:p>
            <a:pPr algn="l">
              <a:lnSpc>
                <a:spcPts val="2902"/>
              </a:lnSpc>
            </a:pPr>
            <a:r>
              <a:rPr lang="en-US" sz="2149">
                <a:solidFill>
                  <a:srgbClr val="67E8F9"/>
                </a:solidFill>
                <a:latin typeface="IBM Plex Mono"/>
                <a:ea typeface="IBM Plex Mono"/>
                <a:cs typeface="IBM Plex Mono"/>
                <a:sym typeface="IBM Plex Mono"/>
              </a:rPr>
              <a:t>-Harshil Vashita</a:t>
            </a:r>
          </a:p>
          <a:p>
            <a:pPr algn="l">
              <a:lnSpc>
                <a:spcPts val="2902"/>
              </a:lnSpc>
            </a:pPr>
          </a:p>
        </p:txBody>
      </p:sp>
      <p:grpSp>
        <p:nvGrpSpPr>
          <p:cNvPr name="Group 18" id="18"/>
          <p:cNvGrpSpPr/>
          <p:nvPr/>
        </p:nvGrpSpPr>
        <p:grpSpPr>
          <a:xfrm rot="0">
            <a:off x="11639550" y="1447800"/>
            <a:ext cx="5486400" cy="6629400"/>
            <a:chOff x="0" y="0"/>
            <a:chExt cx="7315200" cy="8839200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1016000" y="635000"/>
              <a:ext cx="457200" cy="457200"/>
              <a:chOff x="0" y="0"/>
              <a:chExt cx="457200" cy="4572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457200" cy="457200"/>
              </a:xfrm>
              <a:custGeom>
                <a:avLst/>
                <a:gdLst/>
                <a:ahLst/>
                <a:cxnLst/>
                <a:rect r="r" b="b" t="t" l="l"/>
                <a:pathLst>
                  <a:path h="457200" w="457200">
                    <a:moveTo>
                      <a:pt x="228600" y="0"/>
                    </a:moveTo>
                    <a:cubicBezTo>
                      <a:pt x="354852" y="0"/>
                      <a:pt x="457200" y="102348"/>
                      <a:pt x="457200" y="228600"/>
                    </a:cubicBezTo>
                    <a:cubicBezTo>
                      <a:pt x="457200" y="354852"/>
                      <a:pt x="354852" y="457200"/>
                      <a:pt x="228600" y="457200"/>
                    </a:cubicBezTo>
                    <a:cubicBezTo>
                      <a:pt x="102348" y="457200"/>
                      <a:pt x="0" y="354852"/>
                      <a:pt x="0" y="228600"/>
                    </a:cubicBezTo>
                    <a:cubicBezTo>
                      <a:pt x="0" y="102348"/>
                      <a:pt x="102348" y="0"/>
                      <a:pt x="228600" y="0"/>
                    </a:cubicBezTo>
                    <a:close/>
                  </a:path>
                </a:pathLst>
              </a:custGeom>
              <a:solidFill>
                <a:srgbClr val="F59E0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457200" cy="495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AutoShape 22" id="22"/>
            <p:cNvSpPr/>
            <p:nvPr/>
          </p:nvSpPr>
          <p:spPr>
            <a:xfrm flipV="true">
              <a:off x="1244600" y="228600"/>
              <a:ext cx="3302000" cy="635000"/>
            </a:xfrm>
            <a:prstGeom prst="line">
              <a:avLst/>
            </a:prstGeom>
            <a:ln cap="flat" w="38100">
              <a:solidFill>
                <a:srgbClr val="06B6D4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23" id="23"/>
            <p:cNvGrpSpPr/>
            <p:nvPr/>
          </p:nvGrpSpPr>
          <p:grpSpPr>
            <a:xfrm rot="0">
              <a:off x="4318000" y="0"/>
              <a:ext cx="457200" cy="457200"/>
              <a:chOff x="0" y="0"/>
              <a:chExt cx="457200" cy="4572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457200" cy="457200"/>
              </a:xfrm>
              <a:custGeom>
                <a:avLst/>
                <a:gdLst/>
                <a:ahLst/>
                <a:cxnLst/>
                <a:rect r="r" b="b" t="t" l="l"/>
                <a:pathLst>
                  <a:path h="457200" w="457200">
                    <a:moveTo>
                      <a:pt x="228600" y="0"/>
                    </a:moveTo>
                    <a:cubicBezTo>
                      <a:pt x="354852" y="0"/>
                      <a:pt x="457200" y="102348"/>
                      <a:pt x="457200" y="228600"/>
                    </a:cubicBezTo>
                    <a:cubicBezTo>
                      <a:pt x="457200" y="354852"/>
                      <a:pt x="354852" y="457200"/>
                      <a:pt x="228600" y="457200"/>
                    </a:cubicBezTo>
                    <a:cubicBezTo>
                      <a:pt x="102348" y="457200"/>
                      <a:pt x="0" y="354852"/>
                      <a:pt x="0" y="228600"/>
                    </a:cubicBezTo>
                    <a:cubicBezTo>
                      <a:pt x="0" y="102348"/>
                      <a:pt x="102348" y="0"/>
                      <a:pt x="228600" y="0"/>
                    </a:cubicBezTo>
                    <a:close/>
                  </a:path>
                </a:pathLst>
              </a:custGeom>
              <a:solidFill>
                <a:srgbClr val="06B6D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457200" cy="495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AutoShape 26" id="26"/>
            <p:cNvSpPr/>
            <p:nvPr/>
          </p:nvSpPr>
          <p:spPr>
            <a:xfrm>
              <a:off x="4546600" y="228600"/>
              <a:ext cx="2032000" cy="2286000"/>
            </a:xfrm>
            <a:prstGeom prst="line">
              <a:avLst/>
            </a:prstGeom>
            <a:ln cap="flat" w="38100">
              <a:solidFill>
                <a:srgbClr val="06B6D4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27" id="27"/>
            <p:cNvGrpSpPr/>
            <p:nvPr/>
          </p:nvGrpSpPr>
          <p:grpSpPr>
            <a:xfrm rot="0">
              <a:off x="6350000" y="2286000"/>
              <a:ext cx="457200" cy="457200"/>
              <a:chOff x="0" y="0"/>
              <a:chExt cx="457200" cy="4572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457200" cy="457200"/>
              </a:xfrm>
              <a:custGeom>
                <a:avLst/>
                <a:gdLst/>
                <a:ahLst/>
                <a:cxnLst/>
                <a:rect r="r" b="b" t="t" l="l"/>
                <a:pathLst>
                  <a:path h="457200" w="457200">
                    <a:moveTo>
                      <a:pt x="228600" y="0"/>
                    </a:moveTo>
                    <a:cubicBezTo>
                      <a:pt x="354852" y="0"/>
                      <a:pt x="457200" y="102348"/>
                      <a:pt x="457200" y="228600"/>
                    </a:cubicBezTo>
                    <a:cubicBezTo>
                      <a:pt x="457200" y="354852"/>
                      <a:pt x="354852" y="457200"/>
                      <a:pt x="228600" y="457200"/>
                    </a:cubicBezTo>
                    <a:cubicBezTo>
                      <a:pt x="102348" y="457200"/>
                      <a:pt x="0" y="354852"/>
                      <a:pt x="0" y="228600"/>
                    </a:cubicBezTo>
                    <a:cubicBezTo>
                      <a:pt x="0" y="102348"/>
                      <a:pt x="102348" y="0"/>
                      <a:pt x="228600" y="0"/>
                    </a:cubicBezTo>
                    <a:close/>
                  </a:path>
                </a:pathLst>
              </a:custGeom>
              <a:solidFill>
                <a:srgbClr val="06B6D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38100"/>
                <a:ext cx="457200" cy="495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AutoShape 30" id="30"/>
            <p:cNvSpPr/>
            <p:nvPr/>
          </p:nvSpPr>
          <p:spPr>
            <a:xfrm flipH="true">
              <a:off x="3022600" y="2514600"/>
              <a:ext cx="3556000" cy="1016000"/>
            </a:xfrm>
            <a:prstGeom prst="line">
              <a:avLst/>
            </a:prstGeom>
            <a:ln cap="flat" w="38100">
              <a:solidFill>
                <a:srgbClr val="06B6D4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31" id="31"/>
            <p:cNvGrpSpPr/>
            <p:nvPr/>
          </p:nvGrpSpPr>
          <p:grpSpPr>
            <a:xfrm rot="0">
              <a:off x="2794000" y="3302000"/>
              <a:ext cx="457200" cy="457200"/>
              <a:chOff x="0" y="0"/>
              <a:chExt cx="457200" cy="4572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457200" cy="457200"/>
              </a:xfrm>
              <a:custGeom>
                <a:avLst/>
                <a:gdLst/>
                <a:ahLst/>
                <a:cxnLst/>
                <a:rect r="r" b="b" t="t" l="l"/>
                <a:pathLst>
                  <a:path h="457200" w="457200">
                    <a:moveTo>
                      <a:pt x="228600" y="0"/>
                    </a:moveTo>
                    <a:cubicBezTo>
                      <a:pt x="354852" y="0"/>
                      <a:pt x="457200" y="102348"/>
                      <a:pt x="457200" y="228600"/>
                    </a:cubicBezTo>
                    <a:cubicBezTo>
                      <a:pt x="457200" y="354852"/>
                      <a:pt x="354852" y="457200"/>
                      <a:pt x="228600" y="457200"/>
                    </a:cubicBezTo>
                    <a:cubicBezTo>
                      <a:pt x="102348" y="457200"/>
                      <a:pt x="0" y="354852"/>
                      <a:pt x="0" y="228600"/>
                    </a:cubicBezTo>
                    <a:cubicBezTo>
                      <a:pt x="0" y="102348"/>
                      <a:pt x="102348" y="0"/>
                      <a:pt x="228600" y="0"/>
                    </a:cubicBezTo>
                    <a:close/>
                  </a:path>
                </a:pathLst>
              </a:custGeom>
              <a:solidFill>
                <a:srgbClr val="F59E0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457200" cy="495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AutoShape 34" id="34"/>
            <p:cNvSpPr/>
            <p:nvPr/>
          </p:nvSpPr>
          <p:spPr>
            <a:xfrm>
              <a:off x="3022600" y="3530600"/>
              <a:ext cx="2540000" cy="2286000"/>
            </a:xfrm>
            <a:prstGeom prst="line">
              <a:avLst/>
            </a:prstGeom>
            <a:ln cap="flat" w="38100">
              <a:solidFill>
                <a:srgbClr val="06B6D4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35" id="35"/>
            <p:cNvGrpSpPr/>
            <p:nvPr/>
          </p:nvGrpSpPr>
          <p:grpSpPr>
            <a:xfrm rot="0">
              <a:off x="5334000" y="5588000"/>
              <a:ext cx="457200" cy="457200"/>
              <a:chOff x="0" y="0"/>
              <a:chExt cx="457200" cy="4572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457200" cy="457200"/>
              </a:xfrm>
              <a:custGeom>
                <a:avLst/>
                <a:gdLst/>
                <a:ahLst/>
                <a:cxnLst/>
                <a:rect r="r" b="b" t="t" l="l"/>
                <a:pathLst>
                  <a:path h="457200" w="457200">
                    <a:moveTo>
                      <a:pt x="228600" y="0"/>
                    </a:moveTo>
                    <a:cubicBezTo>
                      <a:pt x="354852" y="0"/>
                      <a:pt x="457200" y="102348"/>
                      <a:pt x="457200" y="228600"/>
                    </a:cubicBezTo>
                    <a:cubicBezTo>
                      <a:pt x="457200" y="354852"/>
                      <a:pt x="354852" y="457200"/>
                      <a:pt x="228600" y="457200"/>
                    </a:cubicBezTo>
                    <a:cubicBezTo>
                      <a:pt x="102348" y="457200"/>
                      <a:pt x="0" y="354852"/>
                      <a:pt x="0" y="228600"/>
                    </a:cubicBezTo>
                    <a:cubicBezTo>
                      <a:pt x="0" y="102348"/>
                      <a:pt x="102348" y="0"/>
                      <a:pt x="228600" y="0"/>
                    </a:cubicBezTo>
                    <a:close/>
                  </a:path>
                </a:pathLst>
              </a:custGeom>
              <a:solidFill>
                <a:srgbClr val="06B6D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38100"/>
                <a:ext cx="457200" cy="495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AutoShape 38" id="38"/>
            <p:cNvSpPr/>
            <p:nvPr/>
          </p:nvSpPr>
          <p:spPr>
            <a:xfrm flipH="true">
              <a:off x="228600" y="5816600"/>
              <a:ext cx="5334000" cy="762000"/>
            </a:xfrm>
            <a:prstGeom prst="line">
              <a:avLst/>
            </a:prstGeom>
            <a:ln cap="flat" w="38100">
              <a:solidFill>
                <a:srgbClr val="06B6D4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39" id="39"/>
            <p:cNvGrpSpPr/>
            <p:nvPr/>
          </p:nvGrpSpPr>
          <p:grpSpPr>
            <a:xfrm rot="0">
              <a:off x="0" y="6350000"/>
              <a:ext cx="457200" cy="457200"/>
              <a:chOff x="0" y="0"/>
              <a:chExt cx="457200" cy="45720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457200" cy="457200"/>
              </a:xfrm>
              <a:custGeom>
                <a:avLst/>
                <a:gdLst/>
                <a:ahLst/>
                <a:cxnLst/>
                <a:rect r="r" b="b" t="t" l="l"/>
                <a:pathLst>
                  <a:path h="457200" w="457200">
                    <a:moveTo>
                      <a:pt x="228600" y="0"/>
                    </a:moveTo>
                    <a:cubicBezTo>
                      <a:pt x="354852" y="0"/>
                      <a:pt x="457200" y="102348"/>
                      <a:pt x="457200" y="228600"/>
                    </a:cubicBezTo>
                    <a:cubicBezTo>
                      <a:pt x="457200" y="354852"/>
                      <a:pt x="354852" y="457200"/>
                      <a:pt x="228600" y="457200"/>
                    </a:cubicBezTo>
                    <a:cubicBezTo>
                      <a:pt x="102348" y="457200"/>
                      <a:pt x="0" y="354852"/>
                      <a:pt x="0" y="228600"/>
                    </a:cubicBezTo>
                    <a:cubicBezTo>
                      <a:pt x="0" y="102348"/>
                      <a:pt x="102348" y="0"/>
                      <a:pt x="228600" y="0"/>
                    </a:cubicBezTo>
                    <a:close/>
                  </a:path>
                </a:pathLst>
              </a:custGeom>
              <a:solidFill>
                <a:srgbClr val="06B6D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38100"/>
                <a:ext cx="457200" cy="495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AutoShape 42" id="42"/>
            <p:cNvSpPr/>
            <p:nvPr/>
          </p:nvSpPr>
          <p:spPr>
            <a:xfrm>
              <a:off x="228600" y="6578600"/>
              <a:ext cx="3175000" cy="2032000"/>
            </a:xfrm>
            <a:prstGeom prst="line">
              <a:avLst/>
            </a:prstGeom>
            <a:ln cap="flat" w="38100">
              <a:solidFill>
                <a:srgbClr val="06B6D4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43" id="43"/>
            <p:cNvGrpSpPr/>
            <p:nvPr/>
          </p:nvGrpSpPr>
          <p:grpSpPr>
            <a:xfrm rot="0">
              <a:off x="3175000" y="8382000"/>
              <a:ext cx="457200" cy="457200"/>
              <a:chOff x="0" y="0"/>
              <a:chExt cx="457200" cy="457200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457200" cy="457200"/>
              </a:xfrm>
              <a:custGeom>
                <a:avLst/>
                <a:gdLst/>
                <a:ahLst/>
                <a:cxnLst/>
                <a:rect r="r" b="b" t="t" l="l"/>
                <a:pathLst>
                  <a:path h="457200" w="457200">
                    <a:moveTo>
                      <a:pt x="228600" y="0"/>
                    </a:moveTo>
                    <a:cubicBezTo>
                      <a:pt x="354852" y="0"/>
                      <a:pt x="457200" y="102348"/>
                      <a:pt x="457200" y="228600"/>
                    </a:cubicBezTo>
                    <a:cubicBezTo>
                      <a:pt x="457200" y="354852"/>
                      <a:pt x="354852" y="457200"/>
                      <a:pt x="228600" y="457200"/>
                    </a:cubicBezTo>
                    <a:cubicBezTo>
                      <a:pt x="102348" y="457200"/>
                      <a:pt x="0" y="354852"/>
                      <a:pt x="0" y="228600"/>
                    </a:cubicBezTo>
                    <a:cubicBezTo>
                      <a:pt x="0" y="102348"/>
                      <a:pt x="102348" y="0"/>
                      <a:pt x="228600" y="0"/>
                    </a:cubicBezTo>
                    <a:close/>
                  </a:path>
                </a:pathLst>
              </a:custGeom>
              <a:solidFill>
                <a:srgbClr val="F59E0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0" y="-38100"/>
                <a:ext cx="457200" cy="495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AutoShape 46" id="46"/>
            <p:cNvSpPr/>
            <p:nvPr/>
          </p:nvSpPr>
          <p:spPr>
            <a:xfrm flipV="true">
              <a:off x="3403600" y="8229600"/>
              <a:ext cx="3683000" cy="381000"/>
            </a:xfrm>
            <a:prstGeom prst="line">
              <a:avLst/>
            </a:prstGeom>
            <a:ln cap="flat" w="38100">
              <a:solidFill>
                <a:srgbClr val="06B6D4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47" id="47"/>
            <p:cNvGrpSpPr/>
            <p:nvPr/>
          </p:nvGrpSpPr>
          <p:grpSpPr>
            <a:xfrm rot="0">
              <a:off x="6858000" y="8001000"/>
              <a:ext cx="457200" cy="457200"/>
              <a:chOff x="0" y="0"/>
              <a:chExt cx="457200" cy="457200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457200" cy="457200"/>
              </a:xfrm>
              <a:custGeom>
                <a:avLst/>
                <a:gdLst/>
                <a:ahLst/>
                <a:cxnLst/>
                <a:rect r="r" b="b" t="t" l="l"/>
                <a:pathLst>
                  <a:path h="457200" w="457200">
                    <a:moveTo>
                      <a:pt x="228600" y="0"/>
                    </a:moveTo>
                    <a:cubicBezTo>
                      <a:pt x="354852" y="0"/>
                      <a:pt x="457200" y="102348"/>
                      <a:pt x="457200" y="228600"/>
                    </a:cubicBezTo>
                    <a:cubicBezTo>
                      <a:pt x="457200" y="354852"/>
                      <a:pt x="354852" y="457200"/>
                      <a:pt x="228600" y="457200"/>
                    </a:cubicBezTo>
                    <a:cubicBezTo>
                      <a:pt x="102348" y="457200"/>
                      <a:pt x="0" y="354852"/>
                      <a:pt x="0" y="228600"/>
                    </a:cubicBezTo>
                    <a:cubicBezTo>
                      <a:pt x="0" y="102348"/>
                      <a:pt x="102348" y="0"/>
                      <a:pt x="228600" y="0"/>
                    </a:cubicBezTo>
                    <a:close/>
                  </a:path>
                </a:pathLst>
              </a:custGeom>
              <a:solidFill>
                <a:srgbClr val="06B6D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0" y="-38100"/>
                <a:ext cx="457200" cy="495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668000" y="523875"/>
            <a:ext cx="6858000" cy="9001125"/>
            <a:chOff x="0" y="0"/>
            <a:chExt cx="9144000" cy="12001500"/>
          </a:xfrm>
        </p:grpSpPr>
        <p:sp>
          <p:nvSpPr>
            <p:cNvPr name="AutoShape 3" id="3"/>
            <p:cNvSpPr/>
            <p:nvPr/>
          </p:nvSpPr>
          <p:spPr>
            <a:xfrm>
              <a:off x="0" y="444500"/>
              <a:ext cx="9144000" cy="0"/>
            </a:xfrm>
            <a:prstGeom prst="line">
              <a:avLst/>
            </a:prstGeom>
            <a:ln cap="flat" w="254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" id="4"/>
            <p:cNvSpPr/>
            <p:nvPr/>
          </p:nvSpPr>
          <p:spPr>
            <a:xfrm>
              <a:off x="889000" y="0"/>
              <a:ext cx="0" cy="12001500"/>
            </a:xfrm>
            <a:prstGeom prst="line">
              <a:avLst/>
            </a:prstGeom>
            <a:ln cap="flat" w="127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" id="5"/>
            <p:cNvSpPr/>
            <p:nvPr/>
          </p:nvSpPr>
          <p:spPr>
            <a:xfrm>
              <a:off x="889000" y="2286000"/>
              <a:ext cx="8255000" cy="0"/>
            </a:xfrm>
            <a:prstGeom prst="line">
              <a:avLst/>
            </a:prstGeom>
            <a:ln cap="flat" w="254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" id="6"/>
            <p:cNvSpPr/>
            <p:nvPr/>
          </p:nvSpPr>
          <p:spPr>
            <a:xfrm>
              <a:off x="2413000" y="0"/>
              <a:ext cx="0" cy="12001500"/>
            </a:xfrm>
            <a:prstGeom prst="line">
              <a:avLst/>
            </a:prstGeom>
            <a:ln cap="flat" w="127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" id="7"/>
            <p:cNvSpPr/>
            <p:nvPr/>
          </p:nvSpPr>
          <p:spPr>
            <a:xfrm>
              <a:off x="1778000" y="4127500"/>
              <a:ext cx="7366000" cy="0"/>
            </a:xfrm>
            <a:prstGeom prst="line">
              <a:avLst/>
            </a:prstGeom>
            <a:ln cap="flat" w="254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" id="8"/>
            <p:cNvSpPr/>
            <p:nvPr/>
          </p:nvSpPr>
          <p:spPr>
            <a:xfrm>
              <a:off x="3937000" y="0"/>
              <a:ext cx="0" cy="12001500"/>
            </a:xfrm>
            <a:prstGeom prst="line">
              <a:avLst/>
            </a:prstGeom>
            <a:ln cap="flat" w="127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" id="9"/>
            <p:cNvSpPr/>
            <p:nvPr/>
          </p:nvSpPr>
          <p:spPr>
            <a:xfrm>
              <a:off x="2667000" y="5969000"/>
              <a:ext cx="6477000" cy="0"/>
            </a:xfrm>
            <a:prstGeom prst="line">
              <a:avLst/>
            </a:prstGeom>
            <a:ln cap="flat" w="254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0" id="10"/>
            <p:cNvSpPr/>
            <p:nvPr/>
          </p:nvSpPr>
          <p:spPr>
            <a:xfrm>
              <a:off x="5461000" y="0"/>
              <a:ext cx="0" cy="12001500"/>
            </a:xfrm>
            <a:prstGeom prst="line">
              <a:avLst/>
            </a:prstGeom>
            <a:ln cap="flat" w="127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1" id="11"/>
            <p:cNvSpPr/>
            <p:nvPr/>
          </p:nvSpPr>
          <p:spPr>
            <a:xfrm>
              <a:off x="3556000" y="7810500"/>
              <a:ext cx="5588000" cy="0"/>
            </a:xfrm>
            <a:prstGeom prst="line">
              <a:avLst/>
            </a:prstGeom>
            <a:ln cap="flat" w="254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2" id="12"/>
            <p:cNvSpPr/>
            <p:nvPr/>
          </p:nvSpPr>
          <p:spPr>
            <a:xfrm>
              <a:off x="6985000" y="0"/>
              <a:ext cx="0" cy="12001500"/>
            </a:xfrm>
            <a:prstGeom prst="line">
              <a:avLst/>
            </a:prstGeom>
            <a:ln cap="flat" w="127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3" id="13"/>
            <p:cNvSpPr/>
            <p:nvPr/>
          </p:nvSpPr>
          <p:spPr>
            <a:xfrm>
              <a:off x="4445000" y="9652000"/>
              <a:ext cx="4699000" cy="0"/>
            </a:xfrm>
            <a:prstGeom prst="line">
              <a:avLst/>
            </a:prstGeom>
            <a:ln cap="flat" w="254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4" id="14"/>
            <p:cNvSpPr/>
            <p:nvPr/>
          </p:nvSpPr>
          <p:spPr>
            <a:xfrm>
              <a:off x="8509000" y="0"/>
              <a:ext cx="0" cy="12001500"/>
            </a:xfrm>
            <a:prstGeom prst="line">
              <a:avLst/>
            </a:prstGeom>
            <a:ln cap="flat" w="127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914400" y="609600"/>
            <a:ext cx="16459200" cy="790575"/>
            <a:chOff x="0" y="0"/>
            <a:chExt cx="21945600" cy="1054100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-38100"/>
              <a:ext cx="21945600" cy="9138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98"/>
                </a:lnSpc>
              </a:pPr>
              <a:r>
                <a:rPr lang="en-US" sz="4350" b="true">
                  <a:solidFill>
                    <a:srgbClr val="06B6D4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The Growing Deepfake Crime Crisis</a:t>
              </a:r>
            </a:p>
          </p:txBody>
        </p:sp>
        <p:grpSp>
          <p:nvGrpSpPr>
            <p:cNvPr name="Group 17" id="17"/>
            <p:cNvGrpSpPr/>
            <p:nvPr/>
          </p:nvGrpSpPr>
          <p:grpSpPr>
            <a:xfrm rot="0">
              <a:off x="0" y="990600"/>
              <a:ext cx="1168400" cy="63500"/>
              <a:chOff x="0" y="0"/>
              <a:chExt cx="1168400" cy="635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168400" cy="63500"/>
              </a:xfrm>
              <a:custGeom>
                <a:avLst/>
                <a:gdLst/>
                <a:ahLst/>
                <a:cxnLst/>
                <a:rect r="r" b="b" t="t" l="l"/>
                <a:pathLst>
                  <a:path h="63500" w="1168400">
                    <a:moveTo>
                      <a:pt x="0" y="0"/>
                    </a:moveTo>
                    <a:lnTo>
                      <a:pt x="1168400" y="0"/>
                    </a:lnTo>
                    <a:lnTo>
                      <a:pt x="1168400" y="63500"/>
                    </a:lnTo>
                    <a:lnTo>
                      <a:pt x="0" y="63500"/>
                    </a:lnTo>
                    <a:close/>
                  </a:path>
                </a:pathLst>
              </a:custGeom>
              <a:solidFill>
                <a:srgbClr val="06B6D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1168400" cy="101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</p:grpSp>
      <p:sp>
        <p:nvSpPr>
          <p:cNvPr name="TextBox 20" id="20"/>
          <p:cNvSpPr txBox="true"/>
          <p:nvPr/>
        </p:nvSpPr>
        <p:spPr>
          <a:xfrm rot="0">
            <a:off x="914400" y="9667875"/>
            <a:ext cx="4762500" cy="273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sz="1650">
                <a:solidFill>
                  <a:srgbClr val="94A3B8"/>
                </a:solidFill>
                <a:latin typeface="IBM Plex Mono"/>
                <a:ea typeface="IBM Plex Mono"/>
                <a:cs typeface="IBM Plex Mono"/>
                <a:sym typeface="IBM Plex Mono"/>
              </a:rPr>
              <a:t>FORENSICAI / 02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14400" y="2190750"/>
            <a:ext cx="4953000" cy="4095750"/>
            <a:chOff x="0" y="0"/>
            <a:chExt cx="6604000" cy="5461000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6604000" cy="5461000"/>
              <a:chOff x="0" y="0"/>
              <a:chExt cx="6604000" cy="54610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6604000" cy="5461000"/>
              </a:xfrm>
              <a:custGeom>
                <a:avLst/>
                <a:gdLst/>
                <a:ahLst/>
                <a:cxnLst/>
                <a:rect r="r" b="b" t="t" l="l"/>
                <a:pathLst>
                  <a:path h="5461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5461000"/>
                    </a:lnTo>
                    <a:lnTo>
                      <a:pt x="0" y="5461000"/>
                    </a:lnTo>
                    <a:close/>
                  </a:path>
                </a:pathLst>
              </a:custGeom>
              <a:solidFill>
                <a:srgbClr val="7F1D1D"/>
              </a:solidFill>
              <a:ln w="19050" cap="sq">
                <a:solidFill>
                  <a:srgbClr val="EF4444"/>
                </a:solidFill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6604000" cy="549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431800" y="479425"/>
              <a:ext cx="1524000" cy="3549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FECACA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01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431800" y="2003425"/>
              <a:ext cx="5715000" cy="8331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2025" b="true">
                  <a:solidFill>
                    <a:srgbClr val="F8FAFC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Sextortion + fraud</a:t>
              </a:r>
            </a:p>
            <a:p>
              <a:pPr algn="l">
                <a:lnSpc>
                  <a:spcPts val="2328"/>
                </a:lnSpc>
              </a:pPr>
              <a:r>
                <a:rPr lang="en-US" sz="2025" b="true">
                  <a:solidFill>
                    <a:srgbClr val="F8FAFC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AI-generated deepfakes at scale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6381750" y="2190750"/>
            <a:ext cx="4953000" cy="4095750"/>
            <a:chOff x="0" y="0"/>
            <a:chExt cx="6604000" cy="5461000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6604000" cy="5461000"/>
              <a:chOff x="0" y="0"/>
              <a:chExt cx="6604000" cy="54610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6604000" cy="5461000"/>
              </a:xfrm>
              <a:custGeom>
                <a:avLst/>
                <a:gdLst/>
                <a:ahLst/>
                <a:cxnLst/>
                <a:rect r="r" b="b" t="t" l="l"/>
                <a:pathLst>
                  <a:path h="5461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5461000"/>
                    </a:lnTo>
                    <a:lnTo>
                      <a:pt x="0" y="5461000"/>
                    </a:lnTo>
                    <a:close/>
                  </a:path>
                </a:pathLst>
              </a:custGeom>
              <a:solidFill>
                <a:srgbClr val="7F1D1D"/>
              </a:solidFill>
              <a:ln w="19050" cap="sq">
                <a:solidFill>
                  <a:srgbClr val="EF4444"/>
                </a:solidFill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6604000" cy="549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431800" y="479425"/>
              <a:ext cx="1524000" cy="3549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FECACA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02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431800" y="2003425"/>
              <a:ext cx="5715000" cy="8331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2025" b="true">
                  <a:solidFill>
                    <a:srgbClr val="F8FAFC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Weeks of FSL backlog</a:t>
              </a:r>
            </a:p>
            <a:p>
              <a:pPr algn="l">
                <a:lnSpc>
                  <a:spcPts val="2328"/>
                </a:lnSpc>
              </a:pPr>
              <a:r>
                <a:rPr lang="en-US" sz="2025" b="true">
                  <a:solidFill>
                    <a:srgbClr val="F8FAFC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No structured forensic tooling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1849100" y="2190750"/>
            <a:ext cx="4953000" cy="4095750"/>
            <a:chOff x="0" y="0"/>
            <a:chExt cx="6604000" cy="5461000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0" y="0"/>
              <a:ext cx="6604000" cy="5461000"/>
              <a:chOff x="0" y="0"/>
              <a:chExt cx="6604000" cy="54610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6604000" cy="5461000"/>
              </a:xfrm>
              <a:custGeom>
                <a:avLst/>
                <a:gdLst/>
                <a:ahLst/>
                <a:cxnLst/>
                <a:rect r="r" b="b" t="t" l="l"/>
                <a:pathLst>
                  <a:path h="5461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5461000"/>
                    </a:lnTo>
                    <a:lnTo>
                      <a:pt x="0" y="5461000"/>
                    </a:lnTo>
                    <a:close/>
                  </a:path>
                </a:pathLst>
              </a:custGeom>
              <a:solidFill>
                <a:srgbClr val="7F1D1D"/>
              </a:solidFill>
              <a:ln w="19050" cap="sq">
                <a:solidFill>
                  <a:srgbClr val="EF4444"/>
                </a:solidFill>
                <a:prstDash val="solid"/>
                <a:miter/>
              </a:ln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38100"/>
                <a:ext cx="6604000" cy="549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7" id="37"/>
            <p:cNvSpPr txBox="true"/>
            <p:nvPr/>
          </p:nvSpPr>
          <p:spPr>
            <a:xfrm rot="0">
              <a:off x="431800" y="479425"/>
              <a:ext cx="1524000" cy="3549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FECACA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03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431800" y="1993900"/>
              <a:ext cx="5715000" cy="7912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42"/>
                </a:lnSpc>
              </a:pPr>
              <a:r>
                <a:rPr lang="en-US" sz="1950" b="true">
                  <a:solidFill>
                    <a:srgbClr val="F8FAFC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Legal mapping gap</a:t>
              </a:r>
            </a:p>
            <a:p>
              <a:pPr algn="l">
                <a:lnSpc>
                  <a:spcPts val="2242"/>
                </a:lnSpc>
              </a:pPr>
              <a:r>
                <a:rPr lang="en-US" sz="1950" b="true">
                  <a:solidFill>
                    <a:srgbClr val="F8FAFC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IT Act 2000 / BNS needs specialists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914400" y="7591425"/>
            <a:ext cx="9525000" cy="273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sz="1650">
                <a:solidFill>
                  <a:srgbClr val="FCA5A5"/>
                </a:solidFill>
                <a:latin typeface="IBM Plex Mono"/>
                <a:ea typeface="IBM Plex Mono"/>
                <a:cs typeface="IBM Plex Mono"/>
                <a:sym typeface="IBM Plex Mono"/>
              </a:rPr>
              <a:t>REFERENCE / Rashmika Mandanna viral deepfake, Nov 2023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668000" y="523875"/>
            <a:ext cx="6858000" cy="9001125"/>
            <a:chOff x="0" y="0"/>
            <a:chExt cx="9144000" cy="12001500"/>
          </a:xfrm>
        </p:grpSpPr>
        <p:sp>
          <p:nvSpPr>
            <p:cNvPr name="AutoShape 3" id="3"/>
            <p:cNvSpPr/>
            <p:nvPr/>
          </p:nvSpPr>
          <p:spPr>
            <a:xfrm>
              <a:off x="0" y="444500"/>
              <a:ext cx="9144000" cy="0"/>
            </a:xfrm>
            <a:prstGeom prst="line">
              <a:avLst/>
            </a:prstGeom>
            <a:ln cap="flat" w="254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" id="4"/>
            <p:cNvSpPr/>
            <p:nvPr/>
          </p:nvSpPr>
          <p:spPr>
            <a:xfrm>
              <a:off x="889000" y="0"/>
              <a:ext cx="0" cy="12001500"/>
            </a:xfrm>
            <a:prstGeom prst="line">
              <a:avLst/>
            </a:prstGeom>
            <a:ln cap="flat" w="127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" id="5"/>
            <p:cNvSpPr/>
            <p:nvPr/>
          </p:nvSpPr>
          <p:spPr>
            <a:xfrm>
              <a:off x="889000" y="2286000"/>
              <a:ext cx="8255000" cy="0"/>
            </a:xfrm>
            <a:prstGeom prst="line">
              <a:avLst/>
            </a:prstGeom>
            <a:ln cap="flat" w="254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" id="6"/>
            <p:cNvSpPr/>
            <p:nvPr/>
          </p:nvSpPr>
          <p:spPr>
            <a:xfrm>
              <a:off x="2413000" y="0"/>
              <a:ext cx="0" cy="12001500"/>
            </a:xfrm>
            <a:prstGeom prst="line">
              <a:avLst/>
            </a:prstGeom>
            <a:ln cap="flat" w="127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" id="7"/>
            <p:cNvSpPr/>
            <p:nvPr/>
          </p:nvSpPr>
          <p:spPr>
            <a:xfrm>
              <a:off x="1778000" y="4127500"/>
              <a:ext cx="7366000" cy="0"/>
            </a:xfrm>
            <a:prstGeom prst="line">
              <a:avLst/>
            </a:prstGeom>
            <a:ln cap="flat" w="254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" id="8"/>
            <p:cNvSpPr/>
            <p:nvPr/>
          </p:nvSpPr>
          <p:spPr>
            <a:xfrm>
              <a:off x="3937000" y="0"/>
              <a:ext cx="0" cy="12001500"/>
            </a:xfrm>
            <a:prstGeom prst="line">
              <a:avLst/>
            </a:prstGeom>
            <a:ln cap="flat" w="127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" id="9"/>
            <p:cNvSpPr/>
            <p:nvPr/>
          </p:nvSpPr>
          <p:spPr>
            <a:xfrm>
              <a:off x="2667000" y="5969000"/>
              <a:ext cx="6477000" cy="0"/>
            </a:xfrm>
            <a:prstGeom prst="line">
              <a:avLst/>
            </a:prstGeom>
            <a:ln cap="flat" w="254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0" id="10"/>
            <p:cNvSpPr/>
            <p:nvPr/>
          </p:nvSpPr>
          <p:spPr>
            <a:xfrm>
              <a:off x="5461000" y="0"/>
              <a:ext cx="0" cy="12001500"/>
            </a:xfrm>
            <a:prstGeom prst="line">
              <a:avLst/>
            </a:prstGeom>
            <a:ln cap="flat" w="127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1" id="11"/>
            <p:cNvSpPr/>
            <p:nvPr/>
          </p:nvSpPr>
          <p:spPr>
            <a:xfrm>
              <a:off x="3556000" y="7810500"/>
              <a:ext cx="5588000" cy="0"/>
            </a:xfrm>
            <a:prstGeom prst="line">
              <a:avLst/>
            </a:prstGeom>
            <a:ln cap="flat" w="254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2" id="12"/>
            <p:cNvSpPr/>
            <p:nvPr/>
          </p:nvSpPr>
          <p:spPr>
            <a:xfrm>
              <a:off x="6985000" y="0"/>
              <a:ext cx="0" cy="12001500"/>
            </a:xfrm>
            <a:prstGeom prst="line">
              <a:avLst/>
            </a:prstGeom>
            <a:ln cap="flat" w="127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3" id="13"/>
            <p:cNvSpPr/>
            <p:nvPr/>
          </p:nvSpPr>
          <p:spPr>
            <a:xfrm>
              <a:off x="4445000" y="9652000"/>
              <a:ext cx="4699000" cy="0"/>
            </a:xfrm>
            <a:prstGeom prst="line">
              <a:avLst/>
            </a:prstGeom>
            <a:ln cap="flat" w="254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4" id="14"/>
            <p:cNvSpPr/>
            <p:nvPr/>
          </p:nvSpPr>
          <p:spPr>
            <a:xfrm>
              <a:off x="8509000" y="0"/>
              <a:ext cx="0" cy="12001500"/>
            </a:xfrm>
            <a:prstGeom prst="line">
              <a:avLst/>
            </a:prstGeom>
            <a:ln cap="flat" w="127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914400" y="609600"/>
            <a:ext cx="16459200" cy="790575"/>
            <a:chOff x="0" y="0"/>
            <a:chExt cx="21945600" cy="1054100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-38100"/>
              <a:ext cx="21945600" cy="9138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98"/>
                </a:lnSpc>
              </a:pPr>
              <a:r>
                <a:rPr lang="en-US" sz="4350" b="true">
                  <a:solidFill>
                    <a:srgbClr val="06B6D4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Why Existing Tools Fail</a:t>
              </a:r>
            </a:p>
          </p:txBody>
        </p:sp>
        <p:grpSp>
          <p:nvGrpSpPr>
            <p:cNvPr name="Group 17" id="17"/>
            <p:cNvGrpSpPr/>
            <p:nvPr/>
          </p:nvGrpSpPr>
          <p:grpSpPr>
            <a:xfrm rot="0">
              <a:off x="0" y="990600"/>
              <a:ext cx="1168400" cy="63500"/>
              <a:chOff x="0" y="0"/>
              <a:chExt cx="1168400" cy="635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168400" cy="63500"/>
              </a:xfrm>
              <a:custGeom>
                <a:avLst/>
                <a:gdLst/>
                <a:ahLst/>
                <a:cxnLst/>
                <a:rect r="r" b="b" t="t" l="l"/>
                <a:pathLst>
                  <a:path h="63500" w="1168400">
                    <a:moveTo>
                      <a:pt x="0" y="0"/>
                    </a:moveTo>
                    <a:lnTo>
                      <a:pt x="1168400" y="0"/>
                    </a:lnTo>
                    <a:lnTo>
                      <a:pt x="1168400" y="63500"/>
                    </a:lnTo>
                    <a:lnTo>
                      <a:pt x="0" y="63500"/>
                    </a:lnTo>
                    <a:close/>
                  </a:path>
                </a:pathLst>
              </a:custGeom>
              <a:solidFill>
                <a:srgbClr val="06B6D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1168400" cy="101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</p:grpSp>
      <p:sp>
        <p:nvSpPr>
          <p:cNvPr name="TextBox 20" id="20"/>
          <p:cNvSpPr txBox="true"/>
          <p:nvPr/>
        </p:nvSpPr>
        <p:spPr>
          <a:xfrm rot="0">
            <a:off x="914400" y="9667875"/>
            <a:ext cx="4762500" cy="273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sz="1650">
                <a:solidFill>
                  <a:srgbClr val="94A3B8"/>
                </a:solidFill>
                <a:latin typeface="IBM Plex Mono"/>
                <a:ea typeface="IBM Plex Mono"/>
                <a:cs typeface="IBM Plex Mono"/>
                <a:sym typeface="IBM Plex Mono"/>
              </a:rPr>
              <a:t>FORENSICAI / 03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47750" y="2095500"/>
            <a:ext cx="7239000" cy="6191250"/>
            <a:chOff x="0" y="0"/>
            <a:chExt cx="9652000" cy="8255000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9652000" cy="8255000"/>
              <a:chOff x="0" y="0"/>
              <a:chExt cx="9652000" cy="82550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9652000" cy="8255000"/>
              </a:xfrm>
              <a:custGeom>
                <a:avLst/>
                <a:gdLst/>
                <a:ahLst/>
                <a:cxnLst/>
                <a:rect r="r" b="b" t="t" l="l"/>
                <a:pathLst>
                  <a:path h="8255000" w="9652000">
                    <a:moveTo>
                      <a:pt x="0" y="0"/>
                    </a:moveTo>
                    <a:lnTo>
                      <a:pt x="9652000" y="0"/>
                    </a:lnTo>
                    <a:lnTo>
                      <a:pt x="9652000" y="8255000"/>
                    </a:lnTo>
                    <a:lnTo>
                      <a:pt x="0" y="8255000"/>
                    </a:lnTo>
                    <a:close/>
                  </a:path>
                </a:pathLst>
              </a:custGeom>
              <a:solidFill>
                <a:srgbClr val="321C28"/>
              </a:solidFill>
              <a:ln w="28575" cap="sq">
                <a:solidFill>
                  <a:srgbClr val="EF4444"/>
                </a:solidFill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9652000" cy="829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508000" y="479425"/>
              <a:ext cx="8255000" cy="439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2025" b="true">
                  <a:solidFill>
                    <a:srgbClr val="FCA5A5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SIMPLE DETECTOR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508000" y="1622425"/>
              <a:ext cx="7874000" cy="25647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F8FAFC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01  Single percentage output only</a:t>
              </a:r>
            </a:p>
            <a:p>
              <a:pPr algn="l">
                <a:lnSpc>
                  <a:spcPts val="2227"/>
                </a:lnSpc>
              </a:pPr>
            </a:p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F8FAFC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02  No explanation</a:t>
              </a:r>
            </a:p>
            <a:p>
              <a:pPr algn="l">
                <a:lnSpc>
                  <a:spcPts val="2227"/>
                </a:lnSpc>
              </a:pPr>
            </a:p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F8FAFC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03  No legal packaging</a:t>
              </a:r>
            </a:p>
            <a:p>
              <a:pPr algn="l">
                <a:lnSpc>
                  <a:spcPts val="2227"/>
                </a:lnSpc>
              </a:pPr>
            </a:p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F8FAFC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04  No audit trail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810750" y="2095500"/>
            <a:ext cx="7239000" cy="6191250"/>
            <a:chOff x="0" y="0"/>
            <a:chExt cx="9652000" cy="8255000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9652000" cy="8255000"/>
              <a:chOff x="0" y="0"/>
              <a:chExt cx="9652000" cy="82550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9652000" cy="8255000"/>
              </a:xfrm>
              <a:custGeom>
                <a:avLst/>
                <a:gdLst/>
                <a:ahLst/>
                <a:cxnLst/>
                <a:rect r="r" b="b" t="t" l="l"/>
                <a:pathLst>
                  <a:path h="8255000" w="9652000">
                    <a:moveTo>
                      <a:pt x="0" y="0"/>
                    </a:moveTo>
                    <a:lnTo>
                      <a:pt x="9652000" y="0"/>
                    </a:lnTo>
                    <a:lnTo>
                      <a:pt x="9652000" y="8255000"/>
                    </a:lnTo>
                    <a:lnTo>
                      <a:pt x="0" y="8255000"/>
                    </a:lnTo>
                    <a:close/>
                  </a:path>
                </a:pathLst>
              </a:custGeom>
              <a:solidFill>
                <a:srgbClr val="102E3A"/>
              </a:solidFill>
              <a:ln w="28575" cap="sq">
                <a:solidFill>
                  <a:srgbClr val="06B6D4"/>
                </a:solidFill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9652000" cy="829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508000" y="479425"/>
              <a:ext cx="8255000" cy="439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2025" b="true">
                  <a:solidFill>
                    <a:srgbClr val="67E8F9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DEEPFAKE FORENSICAI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508000" y="1622425"/>
              <a:ext cx="8255000" cy="25647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F8FAFC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01  Attention heatmaps</a:t>
              </a:r>
            </a:p>
            <a:p>
              <a:pPr algn="l">
                <a:lnSpc>
                  <a:spcPts val="2227"/>
                </a:lnSpc>
              </a:pPr>
            </a:p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F8FAFC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02  Chain of custody</a:t>
              </a:r>
            </a:p>
            <a:p>
              <a:pPr algn="l">
                <a:lnSpc>
                  <a:spcPts val="2227"/>
                </a:lnSpc>
              </a:pPr>
            </a:p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F8FAFC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03  IBM Bob brief</a:t>
              </a:r>
            </a:p>
            <a:p>
              <a:pPr algn="l">
                <a:lnSpc>
                  <a:spcPts val="2227"/>
                </a:lnSpc>
              </a:pPr>
            </a:p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F8FAFC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04  19-section PDF forensic dossier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668000" y="523875"/>
            <a:ext cx="6858000" cy="9001125"/>
            <a:chOff x="0" y="0"/>
            <a:chExt cx="9144000" cy="12001500"/>
          </a:xfrm>
        </p:grpSpPr>
        <p:sp>
          <p:nvSpPr>
            <p:cNvPr name="AutoShape 3" id="3"/>
            <p:cNvSpPr/>
            <p:nvPr/>
          </p:nvSpPr>
          <p:spPr>
            <a:xfrm>
              <a:off x="0" y="444500"/>
              <a:ext cx="9144000" cy="0"/>
            </a:xfrm>
            <a:prstGeom prst="line">
              <a:avLst/>
            </a:prstGeom>
            <a:ln cap="flat" w="254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" id="4"/>
            <p:cNvSpPr/>
            <p:nvPr/>
          </p:nvSpPr>
          <p:spPr>
            <a:xfrm>
              <a:off x="889000" y="0"/>
              <a:ext cx="0" cy="12001500"/>
            </a:xfrm>
            <a:prstGeom prst="line">
              <a:avLst/>
            </a:prstGeom>
            <a:ln cap="flat" w="127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" id="5"/>
            <p:cNvSpPr/>
            <p:nvPr/>
          </p:nvSpPr>
          <p:spPr>
            <a:xfrm>
              <a:off x="889000" y="2286000"/>
              <a:ext cx="8255000" cy="0"/>
            </a:xfrm>
            <a:prstGeom prst="line">
              <a:avLst/>
            </a:prstGeom>
            <a:ln cap="flat" w="254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" id="6"/>
            <p:cNvSpPr/>
            <p:nvPr/>
          </p:nvSpPr>
          <p:spPr>
            <a:xfrm>
              <a:off x="2413000" y="0"/>
              <a:ext cx="0" cy="12001500"/>
            </a:xfrm>
            <a:prstGeom prst="line">
              <a:avLst/>
            </a:prstGeom>
            <a:ln cap="flat" w="127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" id="7"/>
            <p:cNvSpPr/>
            <p:nvPr/>
          </p:nvSpPr>
          <p:spPr>
            <a:xfrm>
              <a:off x="1778000" y="4127500"/>
              <a:ext cx="7366000" cy="0"/>
            </a:xfrm>
            <a:prstGeom prst="line">
              <a:avLst/>
            </a:prstGeom>
            <a:ln cap="flat" w="254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" id="8"/>
            <p:cNvSpPr/>
            <p:nvPr/>
          </p:nvSpPr>
          <p:spPr>
            <a:xfrm>
              <a:off x="3937000" y="0"/>
              <a:ext cx="0" cy="12001500"/>
            </a:xfrm>
            <a:prstGeom prst="line">
              <a:avLst/>
            </a:prstGeom>
            <a:ln cap="flat" w="127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" id="9"/>
            <p:cNvSpPr/>
            <p:nvPr/>
          </p:nvSpPr>
          <p:spPr>
            <a:xfrm>
              <a:off x="2667000" y="5969000"/>
              <a:ext cx="6477000" cy="0"/>
            </a:xfrm>
            <a:prstGeom prst="line">
              <a:avLst/>
            </a:prstGeom>
            <a:ln cap="flat" w="254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0" id="10"/>
            <p:cNvSpPr/>
            <p:nvPr/>
          </p:nvSpPr>
          <p:spPr>
            <a:xfrm>
              <a:off x="5461000" y="0"/>
              <a:ext cx="0" cy="12001500"/>
            </a:xfrm>
            <a:prstGeom prst="line">
              <a:avLst/>
            </a:prstGeom>
            <a:ln cap="flat" w="127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1" id="11"/>
            <p:cNvSpPr/>
            <p:nvPr/>
          </p:nvSpPr>
          <p:spPr>
            <a:xfrm>
              <a:off x="3556000" y="7810500"/>
              <a:ext cx="5588000" cy="0"/>
            </a:xfrm>
            <a:prstGeom prst="line">
              <a:avLst/>
            </a:prstGeom>
            <a:ln cap="flat" w="254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2" id="12"/>
            <p:cNvSpPr/>
            <p:nvPr/>
          </p:nvSpPr>
          <p:spPr>
            <a:xfrm>
              <a:off x="6985000" y="0"/>
              <a:ext cx="0" cy="12001500"/>
            </a:xfrm>
            <a:prstGeom prst="line">
              <a:avLst/>
            </a:prstGeom>
            <a:ln cap="flat" w="127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3" id="13"/>
            <p:cNvSpPr/>
            <p:nvPr/>
          </p:nvSpPr>
          <p:spPr>
            <a:xfrm>
              <a:off x="4445000" y="9652000"/>
              <a:ext cx="4699000" cy="0"/>
            </a:xfrm>
            <a:prstGeom prst="line">
              <a:avLst/>
            </a:prstGeom>
            <a:ln cap="flat" w="254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4" id="14"/>
            <p:cNvSpPr/>
            <p:nvPr/>
          </p:nvSpPr>
          <p:spPr>
            <a:xfrm>
              <a:off x="8509000" y="0"/>
              <a:ext cx="0" cy="12001500"/>
            </a:xfrm>
            <a:prstGeom prst="line">
              <a:avLst/>
            </a:prstGeom>
            <a:ln cap="flat" w="127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914400" y="609600"/>
            <a:ext cx="16459200" cy="790575"/>
            <a:chOff x="0" y="0"/>
            <a:chExt cx="21945600" cy="1054100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-38100"/>
              <a:ext cx="21945600" cy="9138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98"/>
                </a:lnSpc>
              </a:pPr>
              <a:r>
                <a:rPr lang="en-US" sz="4350" b="true">
                  <a:solidFill>
                    <a:srgbClr val="06B6D4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End-to-End Forensic Architecture</a:t>
              </a:r>
            </a:p>
          </p:txBody>
        </p:sp>
        <p:grpSp>
          <p:nvGrpSpPr>
            <p:cNvPr name="Group 17" id="17"/>
            <p:cNvGrpSpPr/>
            <p:nvPr/>
          </p:nvGrpSpPr>
          <p:grpSpPr>
            <a:xfrm rot="0">
              <a:off x="0" y="990600"/>
              <a:ext cx="1168400" cy="63500"/>
              <a:chOff x="0" y="0"/>
              <a:chExt cx="1168400" cy="635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168400" cy="63500"/>
              </a:xfrm>
              <a:custGeom>
                <a:avLst/>
                <a:gdLst/>
                <a:ahLst/>
                <a:cxnLst/>
                <a:rect r="r" b="b" t="t" l="l"/>
                <a:pathLst>
                  <a:path h="63500" w="1168400">
                    <a:moveTo>
                      <a:pt x="0" y="0"/>
                    </a:moveTo>
                    <a:lnTo>
                      <a:pt x="1168400" y="0"/>
                    </a:lnTo>
                    <a:lnTo>
                      <a:pt x="1168400" y="63500"/>
                    </a:lnTo>
                    <a:lnTo>
                      <a:pt x="0" y="63500"/>
                    </a:lnTo>
                    <a:close/>
                  </a:path>
                </a:pathLst>
              </a:custGeom>
              <a:solidFill>
                <a:srgbClr val="06B6D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1168400" cy="101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</p:grpSp>
      <p:sp>
        <p:nvSpPr>
          <p:cNvPr name="TextBox 20" id="20"/>
          <p:cNvSpPr txBox="true"/>
          <p:nvPr/>
        </p:nvSpPr>
        <p:spPr>
          <a:xfrm rot="0">
            <a:off x="914400" y="9667875"/>
            <a:ext cx="4762500" cy="273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sz="1650">
                <a:solidFill>
                  <a:srgbClr val="94A3B8"/>
                </a:solidFill>
                <a:latin typeface="IBM Plex Mono"/>
                <a:ea typeface="IBM Plex Mono"/>
                <a:cs typeface="IBM Plex Mono"/>
                <a:sym typeface="IBM Plex Mono"/>
              </a:rPr>
              <a:t>FORENSICAI / 04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723900" y="3429000"/>
            <a:ext cx="17087850" cy="1428750"/>
            <a:chOff x="0" y="0"/>
            <a:chExt cx="22783800" cy="1905000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2667000" cy="1905000"/>
              <a:chOff x="0" y="0"/>
              <a:chExt cx="2667000" cy="19050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2667000" cy="1905000"/>
              </a:xfrm>
              <a:custGeom>
                <a:avLst/>
                <a:gdLst/>
                <a:ahLst/>
                <a:cxnLst/>
                <a:rect r="r" b="b" t="t" l="l"/>
                <a:pathLst>
                  <a:path h="1905000" w="2667000">
                    <a:moveTo>
                      <a:pt x="60476" y="0"/>
                    </a:moveTo>
                    <a:lnTo>
                      <a:pt x="2606524" y="0"/>
                    </a:lnTo>
                    <a:cubicBezTo>
                      <a:pt x="2622563" y="0"/>
                      <a:pt x="2637945" y="6372"/>
                      <a:pt x="2649287" y="17713"/>
                    </a:cubicBezTo>
                    <a:cubicBezTo>
                      <a:pt x="2660628" y="29055"/>
                      <a:pt x="2667000" y="44437"/>
                      <a:pt x="2667000" y="60476"/>
                    </a:cubicBezTo>
                    <a:lnTo>
                      <a:pt x="2667000" y="1844524"/>
                    </a:lnTo>
                    <a:cubicBezTo>
                      <a:pt x="2667000" y="1860563"/>
                      <a:pt x="2660628" y="1875945"/>
                      <a:pt x="2649287" y="1887287"/>
                    </a:cubicBezTo>
                    <a:cubicBezTo>
                      <a:pt x="2637945" y="1898628"/>
                      <a:pt x="2622563" y="1905000"/>
                      <a:pt x="2606524" y="1905000"/>
                    </a:cubicBezTo>
                    <a:lnTo>
                      <a:pt x="60476" y="1905000"/>
                    </a:lnTo>
                    <a:cubicBezTo>
                      <a:pt x="44437" y="1905000"/>
                      <a:pt x="29055" y="1898628"/>
                      <a:pt x="17713" y="1887287"/>
                    </a:cubicBezTo>
                    <a:cubicBezTo>
                      <a:pt x="6372" y="1875945"/>
                      <a:pt x="0" y="1860563"/>
                      <a:pt x="0" y="1844524"/>
                    </a:cubicBezTo>
                    <a:lnTo>
                      <a:pt x="0" y="60476"/>
                    </a:lnTo>
                    <a:cubicBezTo>
                      <a:pt x="0" y="44437"/>
                      <a:pt x="6372" y="29055"/>
                      <a:pt x="17713" y="17713"/>
                    </a:cubicBezTo>
                    <a:cubicBezTo>
                      <a:pt x="29055" y="6372"/>
                      <a:pt x="44437" y="0"/>
                      <a:pt x="60476" y="0"/>
                    </a:cubicBezTo>
                    <a:close/>
                  </a:path>
                </a:pathLst>
              </a:custGeom>
              <a:solidFill>
                <a:srgbClr val="1E293B"/>
              </a:solidFill>
              <a:ln w="19050" cap="sq">
                <a:solidFill>
                  <a:srgbClr val="06B6D4"/>
                </a:solidFill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0"/>
                <a:ext cx="2667000" cy="19050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75"/>
                  </a:lnSpc>
                </a:pPr>
                <a:r>
                  <a:rPr lang="en-US" sz="1500" b="true">
                    <a:solidFill>
                      <a:srgbClr val="F8FAFC"/>
                    </a:solidFill>
                    <a:latin typeface="IBM Plex Mono Bold"/>
                    <a:ea typeface="IBM Plex Mono Bold"/>
                    <a:cs typeface="IBM Plex Mono Bold"/>
                    <a:sym typeface="IBM Plex Mono Bold"/>
                  </a:rPr>
                  <a:t>UPLOAD</a:t>
                </a:r>
              </a:p>
            </p:txBody>
          </p:sp>
        </p:grpSp>
        <p:sp>
          <p:nvSpPr>
            <p:cNvPr name="AutoShape 25" id="25"/>
            <p:cNvSpPr/>
            <p:nvPr/>
          </p:nvSpPr>
          <p:spPr>
            <a:xfrm>
              <a:off x="2717800" y="952500"/>
              <a:ext cx="508000" cy="0"/>
            </a:xfrm>
            <a:prstGeom prst="line">
              <a:avLst/>
            </a:prstGeom>
            <a:ln cap="rnd" w="38100">
              <a:solidFill>
                <a:srgbClr val="06B6D4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26" id="26"/>
            <p:cNvGrpSpPr/>
            <p:nvPr/>
          </p:nvGrpSpPr>
          <p:grpSpPr>
            <a:xfrm rot="0">
              <a:off x="3352800" y="0"/>
              <a:ext cx="2667000" cy="1905000"/>
              <a:chOff x="0" y="0"/>
              <a:chExt cx="2667000" cy="19050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2667000" cy="1905000"/>
              </a:xfrm>
              <a:custGeom>
                <a:avLst/>
                <a:gdLst/>
                <a:ahLst/>
                <a:cxnLst/>
                <a:rect r="r" b="b" t="t" l="l"/>
                <a:pathLst>
                  <a:path h="1905000" w="2667000">
                    <a:moveTo>
                      <a:pt x="60476" y="0"/>
                    </a:moveTo>
                    <a:lnTo>
                      <a:pt x="2606524" y="0"/>
                    </a:lnTo>
                    <a:cubicBezTo>
                      <a:pt x="2622563" y="0"/>
                      <a:pt x="2637945" y="6372"/>
                      <a:pt x="2649287" y="17713"/>
                    </a:cubicBezTo>
                    <a:cubicBezTo>
                      <a:pt x="2660628" y="29055"/>
                      <a:pt x="2667000" y="44437"/>
                      <a:pt x="2667000" y="60476"/>
                    </a:cubicBezTo>
                    <a:lnTo>
                      <a:pt x="2667000" y="1844524"/>
                    </a:lnTo>
                    <a:cubicBezTo>
                      <a:pt x="2667000" y="1860563"/>
                      <a:pt x="2660628" y="1875945"/>
                      <a:pt x="2649287" y="1887287"/>
                    </a:cubicBezTo>
                    <a:cubicBezTo>
                      <a:pt x="2637945" y="1898628"/>
                      <a:pt x="2622563" y="1905000"/>
                      <a:pt x="2606524" y="1905000"/>
                    </a:cubicBezTo>
                    <a:lnTo>
                      <a:pt x="60476" y="1905000"/>
                    </a:lnTo>
                    <a:cubicBezTo>
                      <a:pt x="44437" y="1905000"/>
                      <a:pt x="29055" y="1898628"/>
                      <a:pt x="17713" y="1887287"/>
                    </a:cubicBezTo>
                    <a:cubicBezTo>
                      <a:pt x="6372" y="1875945"/>
                      <a:pt x="0" y="1860563"/>
                      <a:pt x="0" y="1844524"/>
                    </a:cubicBezTo>
                    <a:lnTo>
                      <a:pt x="0" y="60476"/>
                    </a:lnTo>
                    <a:cubicBezTo>
                      <a:pt x="0" y="44437"/>
                      <a:pt x="6372" y="29055"/>
                      <a:pt x="17713" y="17713"/>
                    </a:cubicBezTo>
                    <a:cubicBezTo>
                      <a:pt x="29055" y="6372"/>
                      <a:pt x="44437" y="0"/>
                      <a:pt x="60476" y="0"/>
                    </a:cubicBezTo>
                    <a:close/>
                  </a:path>
                </a:pathLst>
              </a:custGeom>
              <a:solidFill>
                <a:srgbClr val="1E293B"/>
              </a:solidFill>
              <a:ln w="19050" cap="sq">
                <a:solidFill>
                  <a:srgbClr val="06B6D4"/>
                </a:solidFill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0"/>
                <a:ext cx="2667000" cy="19050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75"/>
                  </a:lnSpc>
                </a:pPr>
                <a:r>
                  <a:rPr lang="en-US" sz="1500" b="true">
                    <a:solidFill>
                      <a:srgbClr val="F8FAFC"/>
                    </a:solidFill>
                    <a:latin typeface="IBM Plex Mono Bold"/>
                    <a:ea typeface="IBM Plex Mono Bold"/>
                    <a:cs typeface="IBM Plex Mono Bold"/>
                    <a:sym typeface="IBM Plex Mono Bold"/>
                  </a:rPr>
                  <a:t>SHA-256</a:t>
                </a:r>
              </a:p>
              <a:p>
                <a:pPr algn="ctr">
                  <a:lnSpc>
                    <a:spcPts val="1875"/>
                  </a:lnSpc>
                </a:pPr>
                <a:r>
                  <a:rPr lang="en-US" sz="1500" b="true">
                    <a:solidFill>
                      <a:srgbClr val="F8FAFC"/>
                    </a:solidFill>
                    <a:latin typeface="IBM Plex Mono Bold"/>
                    <a:ea typeface="IBM Plex Mono Bold"/>
                    <a:cs typeface="IBM Plex Mono Bold"/>
                    <a:sym typeface="IBM Plex Mono Bold"/>
                  </a:rPr>
                  <a:t>INGESTION</a:t>
                </a:r>
              </a:p>
            </p:txBody>
          </p:sp>
        </p:grpSp>
        <p:sp>
          <p:nvSpPr>
            <p:cNvPr name="AutoShape 29" id="29"/>
            <p:cNvSpPr/>
            <p:nvPr/>
          </p:nvSpPr>
          <p:spPr>
            <a:xfrm>
              <a:off x="6070600" y="952500"/>
              <a:ext cx="508000" cy="0"/>
            </a:xfrm>
            <a:prstGeom prst="line">
              <a:avLst/>
            </a:prstGeom>
            <a:ln cap="rnd" w="38100">
              <a:solidFill>
                <a:srgbClr val="06B6D4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30" id="30"/>
            <p:cNvGrpSpPr/>
            <p:nvPr/>
          </p:nvGrpSpPr>
          <p:grpSpPr>
            <a:xfrm rot="0">
              <a:off x="6705600" y="0"/>
              <a:ext cx="2667000" cy="1905000"/>
              <a:chOff x="0" y="0"/>
              <a:chExt cx="2667000" cy="19050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2667000" cy="1905000"/>
              </a:xfrm>
              <a:custGeom>
                <a:avLst/>
                <a:gdLst/>
                <a:ahLst/>
                <a:cxnLst/>
                <a:rect r="r" b="b" t="t" l="l"/>
                <a:pathLst>
                  <a:path h="1905000" w="2667000">
                    <a:moveTo>
                      <a:pt x="60476" y="0"/>
                    </a:moveTo>
                    <a:lnTo>
                      <a:pt x="2606524" y="0"/>
                    </a:lnTo>
                    <a:cubicBezTo>
                      <a:pt x="2622563" y="0"/>
                      <a:pt x="2637945" y="6372"/>
                      <a:pt x="2649287" y="17713"/>
                    </a:cubicBezTo>
                    <a:cubicBezTo>
                      <a:pt x="2660628" y="29055"/>
                      <a:pt x="2667000" y="44437"/>
                      <a:pt x="2667000" y="60476"/>
                    </a:cubicBezTo>
                    <a:lnTo>
                      <a:pt x="2667000" y="1844524"/>
                    </a:lnTo>
                    <a:cubicBezTo>
                      <a:pt x="2667000" y="1860563"/>
                      <a:pt x="2660628" y="1875945"/>
                      <a:pt x="2649287" y="1887287"/>
                    </a:cubicBezTo>
                    <a:cubicBezTo>
                      <a:pt x="2637945" y="1898628"/>
                      <a:pt x="2622563" y="1905000"/>
                      <a:pt x="2606524" y="1905000"/>
                    </a:cubicBezTo>
                    <a:lnTo>
                      <a:pt x="60476" y="1905000"/>
                    </a:lnTo>
                    <a:cubicBezTo>
                      <a:pt x="44437" y="1905000"/>
                      <a:pt x="29055" y="1898628"/>
                      <a:pt x="17713" y="1887287"/>
                    </a:cubicBezTo>
                    <a:cubicBezTo>
                      <a:pt x="6372" y="1875945"/>
                      <a:pt x="0" y="1860563"/>
                      <a:pt x="0" y="1844524"/>
                    </a:cubicBezTo>
                    <a:lnTo>
                      <a:pt x="0" y="60476"/>
                    </a:lnTo>
                    <a:cubicBezTo>
                      <a:pt x="0" y="44437"/>
                      <a:pt x="6372" y="29055"/>
                      <a:pt x="17713" y="17713"/>
                    </a:cubicBezTo>
                    <a:cubicBezTo>
                      <a:pt x="29055" y="6372"/>
                      <a:pt x="44437" y="0"/>
                      <a:pt x="60476" y="0"/>
                    </a:cubicBezTo>
                    <a:close/>
                  </a:path>
                </a:pathLst>
              </a:custGeom>
              <a:solidFill>
                <a:srgbClr val="1E293B"/>
              </a:solidFill>
              <a:ln w="19050" cap="sq">
                <a:solidFill>
                  <a:srgbClr val="06B6D4"/>
                </a:solidFill>
                <a:prstDash val="solid"/>
                <a:miter/>
              </a:ln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0"/>
                <a:ext cx="2667000" cy="19050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75"/>
                  </a:lnSpc>
                </a:pPr>
                <a:r>
                  <a:rPr lang="en-US" sz="1500" b="true">
                    <a:solidFill>
                      <a:srgbClr val="F8FAFC"/>
                    </a:solidFill>
                    <a:latin typeface="IBM Plex Mono Bold"/>
                    <a:ea typeface="IBM Plex Mono Bold"/>
                    <a:cs typeface="IBM Plex Mono Bold"/>
                    <a:sym typeface="IBM Plex Mono Bold"/>
                  </a:rPr>
                  <a:t>MEDIA</a:t>
                </a:r>
              </a:p>
              <a:p>
                <a:pPr algn="ctr">
                  <a:lnSpc>
                    <a:spcPts val="1875"/>
                  </a:lnSpc>
                </a:pPr>
                <a:r>
                  <a:rPr lang="en-US" sz="1500" b="true">
                    <a:solidFill>
                      <a:srgbClr val="F8FAFC"/>
                    </a:solidFill>
                    <a:latin typeface="IBM Plex Mono Bold"/>
                    <a:ea typeface="IBM Plex Mono Bold"/>
                    <a:cs typeface="IBM Plex Mono Bold"/>
                    <a:sym typeface="IBM Plex Mono Bold"/>
                  </a:rPr>
                  <a:t>ROUTER</a:t>
                </a:r>
              </a:p>
            </p:txBody>
          </p:sp>
        </p:grpSp>
        <p:sp>
          <p:nvSpPr>
            <p:cNvPr name="AutoShape 33" id="33"/>
            <p:cNvSpPr/>
            <p:nvPr/>
          </p:nvSpPr>
          <p:spPr>
            <a:xfrm>
              <a:off x="9423400" y="952500"/>
              <a:ext cx="508000" cy="0"/>
            </a:xfrm>
            <a:prstGeom prst="line">
              <a:avLst/>
            </a:prstGeom>
            <a:ln cap="rnd" w="38100">
              <a:solidFill>
                <a:srgbClr val="06B6D4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34" id="34"/>
            <p:cNvGrpSpPr/>
            <p:nvPr/>
          </p:nvGrpSpPr>
          <p:grpSpPr>
            <a:xfrm rot="0">
              <a:off x="10058400" y="0"/>
              <a:ext cx="2667000" cy="1905000"/>
              <a:chOff x="0" y="0"/>
              <a:chExt cx="2667000" cy="19050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2667000" cy="1905000"/>
              </a:xfrm>
              <a:custGeom>
                <a:avLst/>
                <a:gdLst/>
                <a:ahLst/>
                <a:cxnLst/>
                <a:rect r="r" b="b" t="t" l="l"/>
                <a:pathLst>
                  <a:path h="1905000" w="2667000">
                    <a:moveTo>
                      <a:pt x="60476" y="0"/>
                    </a:moveTo>
                    <a:lnTo>
                      <a:pt x="2606524" y="0"/>
                    </a:lnTo>
                    <a:cubicBezTo>
                      <a:pt x="2622563" y="0"/>
                      <a:pt x="2637945" y="6372"/>
                      <a:pt x="2649287" y="17713"/>
                    </a:cubicBezTo>
                    <a:cubicBezTo>
                      <a:pt x="2660628" y="29055"/>
                      <a:pt x="2667000" y="44437"/>
                      <a:pt x="2667000" y="60476"/>
                    </a:cubicBezTo>
                    <a:lnTo>
                      <a:pt x="2667000" y="1844524"/>
                    </a:lnTo>
                    <a:cubicBezTo>
                      <a:pt x="2667000" y="1860563"/>
                      <a:pt x="2660628" y="1875945"/>
                      <a:pt x="2649287" y="1887287"/>
                    </a:cubicBezTo>
                    <a:cubicBezTo>
                      <a:pt x="2637945" y="1898628"/>
                      <a:pt x="2622563" y="1905000"/>
                      <a:pt x="2606524" y="1905000"/>
                    </a:cubicBezTo>
                    <a:lnTo>
                      <a:pt x="60476" y="1905000"/>
                    </a:lnTo>
                    <a:cubicBezTo>
                      <a:pt x="44437" y="1905000"/>
                      <a:pt x="29055" y="1898628"/>
                      <a:pt x="17713" y="1887287"/>
                    </a:cubicBezTo>
                    <a:cubicBezTo>
                      <a:pt x="6372" y="1875945"/>
                      <a:pt x="0" y="1860563"/>
                      <a:pt x="0" y="1844524"/>
                    </a:cubicBezTo>
                    <a:lnTo>
                      <a:pt x="0" y="60476"/>
                    </a:lnTo>
                    <a:cubicBezTo>
                      <a:pt x="0" y="44437"/>
                      <a:pt x="6372" y="29055"/>
                      <a:pt x="17713" y="17713"/>
                    </a:cubicBezTo>
                    <a:cubicBezTo>
                      <a:pt x="29055" y="6372"/>
                      <a:pt x="44437" y="0"/>
                      <a:pt x="60476" y="0"/>
                    </a:cubicBezTo>
                    <a:close/>
                  </a:path>
                </a:pathLst>
              </a:custGeom>
              <a:solidFill>
                <a:srgbClr val="1E293B"/>
              </a:solidFill>
              <a:ln w="19050" cap="sq">
                <a:solidFill>
                  <a:srgbClr val="06B6D4"/>
                </a:solidFill>
                <a:prstDash val="solid"/>
                <a:miter/>
              </a:ln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0"/>
                <a:ext cx="2667000" cy="19050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75"/>
                  </a:lnSpc>
                </a:pPr>
                <a:r>
                  <a:rPr lang="en-US" sz="1500" b="true">
                    <a:solidFill>
                      <a:srgbClr val="F8FAFC"/>
                    </a:solidFill>
                    <a:latin typeface="IBM Plex Mono Bold"/>
                    <a:ea typeface="IBM Plex Mono Bold"/>
                    <a:cs typeface="IBM Plex Mono Bold"/>
                    <a:sym typeface="IBM Plex Mono Bold"/>
                  </a:rPr>
                  <a:t>ViT + MTCNN</a:t>
                </a:r>
              </a:p>
              <a:p>
                <a:pPr algn="ctr">
                  <a:lnSpc>
                    <a:spcPts val="1875"/>
                  </a:lnSpc>
                </a:pPr>
                <a:r>
                  <a:rPr lang="en-US" sz="1500" b="true">
                    <a:solidFill>
                      <a:srgbClr val="F8FAFC"/>
                    </a:solidFill>
                    <a:latin typeface="IBM Plex Mono Bold"/>
                    <a:ea typeface="IBM Plex Mono Bold"/>
                    <a:cs typeface="IBM Plex Mono Bold"/>
                    <a:sym typeface="IBM Plex Mono Bold"/>
                  </a:rPr>
                  <a:t>Wav2Vec2 + TEMP</a:t>
                </a:r>
              </a:p>
            </p:txBody>
          </p:sp>
        </p:grpSp>
        <p:sp>
          <p:nvSpPr>
            <p:cNvPr name="AutoShape 37" id="37"/>
            <p:cNvSpPr/>
            <p:nvPr/>
          </p:nvSpPr>
          <p:spPr>
            <a:xfrm>
              <a:off x="12776200" y="952500"/>
              <a:ext cx="508000" cy="0"/>
            </a:xfrm>
            <a:prstGeom prst="line">
              <a:avLst/>
            </a:prstGeom>
            <a:ln cap="rnd" w="38100">
              <a:solidFill>
                <a:srgbClr val="06B6D4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38" id="38"/>
            <p:cNvGrpSpPr/>
            <p:nvPr/>
          </p:nvGrpSpPr>
          <p:grpSpPr>
            <a:xfrm rot="0">
              <a:off x="13411200" y="0"/>
              <a:ext cx="2667000" cy="1905000"/>
              <a:chOff x="0" y="0"/>
              <a:chExt cx="2667000" cy="190500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2667000" cy="1905000"/>
              </a:xfrm>
              <a:custGeom>
                <a:avLst/>
                <a:gdLst/>
                <a:ahLst/>
                <a:cxnLst/>
                <a:rect r="r" b="b" t="t" l="l"/>
                <a:pathLst>
                  <a:path h="1905000" w="2667000">
                    <a:moveTo>
                      <a:pt x="60476" y="0"/>
                    </a:moveTo>
                    <a:lnTo>
                      <a:pt x="2606524" y="0"/>
                    </a:lnTo>
                    <a:cubicBezTo>
                      <a:pt x="2622563" y="0"/>
                      <a:pt x="2637945" y="6372"/>
                      <a:pt x="2649287" y="17713"/>
                    </a:cubicBezTo>
                    <a:cubicBezTo>
                      <a:pt x="2660628" y="29055"/>
                      <a:pt x="2667000" y="44437"/>
                      <a:pt x="2667000" y="60476"/>
                    </a:cubicBezTo>
                    <a:lnTo>
                      <a:pt x="2667000" y="1844524"/>
                    </a:lnTo>
                    <a:cubicBezTo>
                      <a:pt x="2667000" y="1860563"/>
                      <a:pt x="2660628" y="1875945"/>
                      <a:pt x="2649287" y="1887287"/>
                    </a:cubicBezTo>
                    <a:cubicBezTo>
                      <a:pt x="2637945" y="1898628"/>
                      <a:pt x="2622563" y="1905000"/>
                      <a:pt x="2606524" y="1905000"/>
                    </a:cubicBezTo>
                    <a:lnTo>
                      <a:pt x="60476" y="1905000"/>
                    </a:lnTo>
                    <a:cubicBezTo>
                      <a:pt x="44437" y="1905000"/>
                      <a:pt x="29055" y="1898628"/>
                      <a:pt x="17713" y="1887287"/>
                    </a:cubicBezTo>
                    <a:cubicBezTo>
                      <a:pt x="6372" y="1875945"/>
                      <a:pt x="0" y="1860563"/>
                      <a:pt x="0" y="1844524"/>
                    </a:cubicBezTo>
                    <a:lnTo>
                      <a:pt x="0" y="60476"/>
                    </a:lnTo>
                    <a:cubicBezTo>
                      <a:pt x="0" y="44437"/>
                      <a:pt x="6372" y="29055"/>
                      <a:pt x="17713" y="17713"/>
                    </a:cubicBezTo>
                    <a:cubicBezTo>
                      <a:pt x="29055" y="6372"/>
                      <a:pt x="44437" y="0"/>
                      <a:pt x="60476" y="0"/>
                    </a:cubicBezTo>
                    <a:close/>
                  </a:path>
                </a:pathLst>
              </a:custGeom>
              <a:solidFill>
                <a:srgbClr val="1E293B"/>
              </a:solidFill>
              <a:ln w="19050" cap="sq">
                <a:solidFill>
                  <a:srgbClr val="06B6D4"/>
                </a:solidFill>
                <a:prstDash val="solid"/>
                <a:miter/>
              </a:ln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0"/>
                <a:ext cx="2667000" cy="19050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75"/>
                  </a:lnSpc>
                </a:pPr>
                <a:r>
                  <a:rPr lang="en-US" sz="1500" b="true">
                    <a:solidFill>
                      <a:srgbClr val="F8FAFC"/>
                    </a:solidFill>
                    <a:latin typeface="IBM Plex Mono Bold"/>
                    <a:ea typeface="IBM Plex Mono Bold"/>
                    <a:cs typeface="IBM Plex Mono Bold"/>
                    <a:sym typeface="IBM Plex Mono Bold"/>
                  </a:rPr>
                  <a:t>FUSION</a:t>
                </a:r>
              </a:p>
              <a:p>
                <a:pPr algn="ctr">
                  <a:lnSpc>
                    <a:spcPts val="1875"/>
                  </a:lnSpc>
                </a:pPr>
                <a:r>
                  <a:rPr lang="en-US" sz="1500" b="true">
                    <a:solidFill>
                      <a:srgbClr val="F8FAFC"/>
                    </a:solidFill>
                    <a:latin typeface="IBM Plex Mono Bold"/>
                    <a:ea typeface="IBM Plex Mono Bold"/>
                    <a:cs typeface="IBM Plex Mono Bold"/>
                    <a:sym typeface="IBM Plex Mono Bold"/>
                  </a:rPr>
                  <a:t>ENGINE</a:t>
                </a:r>
              </a:p>
            </p:txBody>
          </p:sp>
        </p:grpSp>
        <p:sp>
          <p:nvSpPr>
            <p:cNvPr name="AutoShape 41" id="41"/>
            <p:cNvSpPr/>
            <p:nvPr/>
          </p:nvSpPr>
          <p:spPr>
            <a:xfrm>
              <a:off x="16129000" y="952500"/>
              <a:ext cx="508000" cy="0"/>
            </a:xfrm>
            <a:prstGeom prst="line">
              <a:avLst/>
            </a:prstGeom>
            <a:ln cap="rnd" w="38100">
              <a:solidFill>
                <a:srgbClr val="06B6D4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42" id="42"/>
            <p:cNvGrpSpPr/>
            <p:nvPr/>
          </p:nvGrpSpPr>
          <p:grpSpPr>
            <a:xfrm rot="0">
              <a:off x="16764000" y="0"/>
              <a:ext cx="2667000" cy="1905000"/>
              <a:chOff x="0" y="0"/>
              <a:chExt cx="2667000" cy="190500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2667000" cy="1905000"/>
              </a:xfrm>
              <a:custGeom>
                <a:avLst/>
                <a:gdLst/>
                <a:ahLst/>
                <a:cxnLst/>
                <a:rect r="r" b="b" t="t" l="l"/>
                <a:pathLst>
                  <a:path h="1905000" w="2667000">
                    <a:moveTo>
                      <a:pt x="60476" y="0"/>
                    </a:moveTo>
                    <a:lnTo>
                      <a:pt x="2606524" y="0"/>
                    </a:lnTo>
                    <a:cubicBezTo>
                      <a:pt x="2622563" y="0"/>
                      <a:pt x="2637945" y="6372"/>
                      <a:pt x="2649287" y="17713"/>
                    </a:cubicBezTo>
                    <a:cubicBezTo>
                      <a:pt x="2660628" y="29055"/>
                      <a:pt x="2667000" y="44437"/>
                      <a:pt x="2667000" y="60476"/>
                    </a:cubicBezTo>
                    <a:lnTo>
                      <a:pt x="2667000" y="1844524"/>
                    </a:lnTo>
                    <a:cubicBezTo>
                      <a:pt x="2667000" y="1860563"/>
                      <a:pt x="2660628" y="1875945"/>
                      <a:pt x="2649287" y="1887287"/>
                    </a:cubicBezTo>
                    <a:cubicBezTo>
                      <a:pt x="2637945" y="1898628"/>
                      <a:pt x="2622563" y="1905000"/>
                      <a:pt x="2606524" y="1905000"/>
                    </a:cubicBezTo>
                    <a:lnTo>
                      <a:pt x="60476" y="1905000"/>
                    </a:lnTo>
                    <a:cubicBezTo>
                      <a:pt x="44437" y="1905000"/>
                      <a:pt x="29055" y="1898628"/>
                      <a:pt x="17713" y="1887287"/>
                    </a:cubicBezTo>
                    <a:cubicBezTo>
                      <a:pt x="6372" y="1875945"/>
                      <a:pt x="0" y="1860563"/>
                      <a:pt x="0" y="1844524"/>
                    </a:cubicBezTo>
                    <a:lnTo>
                      <a:pt x="0" y="60476"/>
                    </a:lnTo>
                    <a:cubicBezTo>
                      <a:pt x="0" y="44437"/>
                      <a:pt x="6372" y="29055"/>
                      <a:pt x="17713" y="17713"/>
                    </a:cubicBezTo>
                    <a:cubicBezTo>
                      <a:pt x="29055" y="6372"/>
                      <a:pt x="44437" y="0"/>
                      <a:pt x="60476" y="0"/>
                    </a:cubicBezTo>
                    <a:close/>
                  </a:path>
                </a:pathLst>
              </a:custGeom>
              <a:solidFill>
                <a:srgbClr val="3A2A12"/>
              </a:solidFill>
              <a:ln w="19050" cap="sq">
                <a:solidFill>
                  <a:srgbClr val="F59E0B"/>
                </a:solidFill>
                <a:prstDash val="solid"/>
                <a:miter/>
              </a:ln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0"/>
                <a:ext cx="2667000" cy="19050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75"/>
                  </a:lnSpc>
                </a:pPr>
                <a:r>
                  <a:rPr lang="en-US" sz="1500" b="true">
                    <a:solidFill>
                      <a:srgbClr val="F8FAFC"/>
                    </a:solidFill>
                    <a:latin typeface="IBM Plex Mono Bold"/>
                    <a:ea typeface="IBM Plex Mono Bold"/>
                    <a:cs typeface="IBM Plex Mono Bold"/>
                    <a:sym typeface="IBM Plex Mono Bold"/>
                  </a:rPr>
                  <a:t>IBM BOB</a:t>
                </a:r>
              </a:p>
            </p:txBody>
          </p:sp>
        </p:grpSp>
        <p:sp>
          <p:nvSpPr>
            <p:cNvPr name="AutoShape 45" id="45"/>
            <p:cNvSpPr/>
            <p:nvPr/>
          </p:nvSpPr>
          <p:spPr>
            <a:xfrm>
              <a:off x="19481800" y="952500"/>
              <a:ext cx="508000" cy="0"/>
            </a:xfrm>
            <a:prstGeom prst="line">
              <a:avLst/>
            </a:prstGeom>
            <a:ln cap="rnd" w="38100">
              <a:solidFill>
                <a:srgbClr val="06B6D4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46" id="46"/>
            <p:cNvGrpSpPr/>
            <p:nvPr/>
          </p:nvGrpSpPr>
          <p:grpSpPr>
            <a:xfrm rot="0">
              <a:off x="20116800" y="0"/>
              <a:ext cx="2667000" cy="1905000"/>
              <a:chOff x="0" y="0"/>
              <a:chExt cx="2667000" cy="1905000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2667000" cy="1905000"/>
              </a:xfrm>
              <a:custGeom>
                <a:avLst/>
                <a:gdLst/>
                <a:ahLst/>
                <a:cxnLst/>
                <a:rect r="r" b="b" t="t" l="l"/>
                <a:pathLst>
                  <a:path h="1905000" w="2667000">
                    <a:moveTo>
                      <a:pt x="60476" y="0"/>
                    </a:moveTo>
                    <a:lnTo>
                      <a:pt x="2606524" y="0"/>
                    </a:lnTo>
                    <a:cubicBezTo>
                      <a:pt x="2622563" y="0"/>
                      <a:pt x="2637945" y="6372"/>
                      <a:pt x="2649287" y="17713"/>
                    </a:cubicBezTo>
                    <a:cubicBezTo>
                      <a:pt x="2660628" y="29055"/>
                      <a:pt x="2667000" y="44437"/>
                      <a:pt x="2667000" y="60476"/>
                    </a:cubicBezTo>
                    <a:lnTo>
                      <a:pt x="2667000" y="1844524"/>
                    </a:lnTo>
                    <a:cubicBezTo>
                      <a:pt x="2667000" y="1860563"/>
                      <a:pt x="2660628" y="1875945"/>
                      <a:pt x="2649287" y="1887287"/>
                    </a:cubicBezTo>
                    <a:cubicBezTo>
                      <a:pt x="2637945" y="1898628"/>
                      <a:pt x="2622563" y="1905000"/>
                      <a:pt x="2606524" y="1905000"/>
                    </a:cubicBezTo>
                    <a:lnTo>
                      <a:pt x="60476" y="1905000"/>
                    </a:lnTo>
                    <a:cubicBezTo>
                      <a:pt x="44437" y="1905000"/>
                      <a:pt x="29055" y="1898628"/>
                      <a:pt x="17713" y="1887287"/>
                    </a:cubicBezTo>
                    <a:cubicBezTo>
                      <a:pt x="6372" y="1875945"/>
                      <a:pt x="0" y="1860563"/>
                      <a:pt x="0" y="1844524"/>
                    </a:cubicBezTo>
                    <a:lnTo>
                      <a:pt x="0" y="60476"/>
                    </a:lnTo>
                    <a:cubicBezTo>
                      <a:pt x="0" y="44437"/>
                      <a:pt x="6372" y="29055"/>
                      <a:pt x="17713" y="17713"/>
                    </a:cubicBezTo>
                    <a:cubicBezTo>
                      <a:pt x="29055" y="6372"/>
                      <a:pt x="44437" y="0"/>
                      <a:pt x="60476" y="0"/>
                    </a:cubicBezTo>
                    <a:close/>
                  </a:path>
                </a:pathLst>
              </a:custGeom>
              <a:solidFill>
                <a:srgbClr val="1E293B"/>
              </a:solidFill>
              <a:ln w="19050" cap="sq">
                <a:solidFill>
                  <a:srgbClr val="06B6D4"/>
                </a:solidFill>
                <a:prstDash val="solid"/>
                <a:miter/>
              </a:ln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0" y="0"/>
                <a:ext cx="2667000" cy="19050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75"/>
                  </a:lnSpc>
                </a:pPr>
                <a:r>
                  <a:rPr lang="en-US" sz="1500" b="true">
                    <a:solidFill>
                      <a:srgbClr val="F8FAFC"/>
                    </a:solidFill>
                    <a:latin typeface="IBM Plex Mono Bold"/>
                    <a:ea typeface="IBM Plex Mono Bold"/>
                    <a:cs typeface="IBM Plex Mono Bold"/>
                    <a:sym typeface="IBM Plex Mono Bold"/>
                  </a:rPr>
                  <a:t>19-SECTION</a:t>
                </a:r>
              </a:p>
              <a:p>
                <a:pPr algn="ctr">
                  <a:lnSpc>
                    <a:spcPts val="1875"/>
                  </a:lnSpc>
                </a:pPr>
                <a:r>
                  <a:rPr lang="en-US" sz="1500" b="true">
                    <a:solidFill>
                      <a:srgbClr val="F8FAFC"/>
                    </a:solidFill>
                    <a:latin typeface="IBM Plex Mono Bold"/>
                    <a:ea typeface="IBM Plex Mono Bold"/>
                    <a:cs typeface="IBM Plex Mono Bold"/>
                    <a:sym typeface="IBM Plex Mono Bold"/>
                  </a:rPr>
                  <a:t>PDF</a:t>
                </a:r>
              </a:p>
            </p:txBody>
          </p:sp>
        </p:grpSp>
      </p:grpSp>
      <p:sp>
        <p:nvSpPr>
          <p:cNvPr name="TextBox 49" id="49"/>
          <p:cNvSpPr txBox="true"/>
          <p:nvPr/>
        </p:nvSpPr>
        <p:spPr>
          <a:xfrm rot="0">
            <a:off x="3714750" y="6638925"/>
            <a:ext cx="10858500" cy="273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7"/>
              </a:lnSpc>
            </a:pPr>
            <a:r>
              <a:rPr lang="en-US" sz="1650">
                <a:solidFill>
                  <a:srgbClr val="67E8F9"/>
                </a:solidFill>
                <a:latin typeface="IBM Plex Mono"/>
                <a:ea typeface="IBM Plex Mono"/>
                <a:cs typeface="IBM Plex Mono"/>
                <a:sym typeface="IBM Plex Mono"/>
              </a:rPr>
              <a:t>FastAPI | React 18 | PyTorch | IBM Bob | SHA-256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668000" y="523875"/>
            <a:ext cx="6858000" cy="9001125"/>
            <a:chOff x="0" y="0"/>
            <a:chExt cx="9144000" cy="12001500"/>
          </a:xfrm>
        </p:grpSpPr>
        <p:sp>
          <p:nvSpPr>
            <p:cNvPr name="AutoShape 3" id="3"/>
            <p:cNvSpPr/>
            <p:nvPr/>
          </p:nvSpPr>
          <p:spPr>
            <a:xfrm>
              <a:off x="0" y="444500"/>
              <a:ext cx="9144000" cy="0"/>
            </a:xfrm>
            <a:prstGeom prst="line">
              <a:avLst/>
            </a:prstGeom>
            <a:ln cap="flat" w="254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" id="4"/>
            <p:cNvSpPr/>
            <p:nvPr/>
          </p:nvSpPr>
          <p:spPr>
            <a:xfrm>
              <a:off x="889000" y="0"/>
              <a:ext cx="0" cy="12001500"/>
            </a:xfrm>
            <a:prstGeom prst="line">
              <a:avLst/>
            </a:prstGeom>
            <a:ln cap="flat" w="127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" id="5"/>
            <p:cNvSpPr/>
            <p:nvPr/>
          </p:nvSpPr>
          <p:spPr>
            <a:xfrm>
              <a:off x="889000" y="2286000"/>
              <a:ext cx="8255000" cy="0"/>
            </a:xfrm>
            <a:prstGeom prst="line">
              <a:avLst/>
            </a:prstGeom>
            <a:ln cap="flat" w="254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" id="6"/>
            <p:cNvSpPr/>
            <p:nvPr/>
          </p:nvSpPr>
          <p:spPr>
            <a:xfrm>
              <a:off x="2413000" y="0"/>
              <a:ext cx="0" cy="12001500"/>
            </a:xfrm>
            <a:prstGeom prst="line">
              <a:avLst/>
            </a:prstGeom>
            <a:ln cap="flat" w="127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" id="7"/>
            <p:cNvSpPr/>
            <p:nvPr/>
          </p:nvSpPr>
          <p:spPr>
            <a:xfrm>
              <a:off x="1778000" y="4127500"/>
              <a:ext cx="7366000" cy="0"/>
            </a:xfrm>
            <a:prstGeom prst="line">
              <a:avLst/>
            </a:prstGeom>
            <a:ln cap="flat" w="254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" id="8"/>
            <p:cNvSpPr/>
            <p:nvPr/>
          </p:nvSpPr>
          <p:spPr>
            <a:xfrm>
              <a:off x="3937000" y="0"/>
              <a:ext cx="0" cy="12001500"/>
            </a:xfrm>
            <a:prstGeom prst="line">
              <a:avLst/>
            </a:prstGeom>
            <a:ln cap="flat" w="127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" id="9"/>
            <p:cNvSpPr/>
            <p:nvPr/>
          </p:nvSpPr>
          <p:spPr>
            <a:xfrm>
              <a:off x="2667000" y="5969000"/>
              <a:ext cx="6477000" cy="0"/>
            </a:xfrm>
            <a:prstGeom prst="line">
              <a:avLst/>
            </a:prstGeom>
            <a:ln cap="flat" w="254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0" id="10"/>
            <p:cNvSpPr/>
            <p:nvPr/>
          </p:nvSpPr>
          <p:spPr>
            <a:xfrm>
              <a:off x="5461000" y="0"/>
              <a:ext cx="0" cy="12001500"/>
            </a:xfrm>
            <a:prstGeom prst="line">
              <a:avLst/>
            </a:prstGeom>
            <a:ln cap="flat" w="127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1" id="11"/>
            <p:cNvSpPr/>
            <p:nvPr/>
          </p:nvSpPr>
          <p:spPr>
            <a:xfrm>
              <a:off x="3556000" y="7810500"/>
              <a:ext cx="5588000" cy="0"/>
            </a:xfrm>
            <a:prstGeom prst="line">
              <a:avLst/>
            </a:prstGeom>
            <a:ln cap="flat" w="254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2" id="12"/>
            <p:cNvSpPr/>
            <p:nvPr/>
          </p:nvSpPr>
          <p:spPr>
            <a:xfrm>
              <a:off x="6985000" y="0"/>
              <a:ext cx="0" cy="12001500"/>
            </a:xfrm>
            <a:prstGeom prst="line">
              <a:avLst/>
            </a:prstGeom>
            <a:ln cap="flat" w="127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3" id="13"/>
            <p:cNvSpPr/>
            <p:nvPr/>
          </p:nvSpPr>
          <p:spPr>
            <a:xfrm>
              <a:off x="4445000" y="9652000"/>
              <a:ext cx="4699000" cy="0"/>
            </a:xfrm>
            <a:prstGeom prst="line">
              <a:avLst/>
            </a:prstGeom>
            <a:ln cap="flat" w="254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4" id="14"/>
            <p:cNvSpPr/>
            <p:nvPr/>
          </p:nvSpPr>
          <p:spPr>
            <a:xfrm>
              <a:off x="8509000" y="0"/>
              <a:ext cx="0" cy="12001500"/>
            </a:xfrm>
            <a:prstGeom prst="line">
              <a:avLst/>
            </a:prstGeom>
            <a:ln cap="flat" w="127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914400" y="609600"/>
            <a:ext cx="16459200" cy="790575"/>
            <a:chOff x="0" y="0"/>
            <a:chExt cx="21945600" cy="1054100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-38100"/>
              <a:ext cx="21945600" cy="9138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98"/>
                </a:lnSpc>
              </a:pPr>
              <a:r>
                <a:rPr lang="en-US" sz="4350" b="true">
                  <a:solidFill>
                    <a:srgbClr val="06B6D4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Four Specialized Pre-Trained Neural Networks</a:t>
              </a:r>
            </a:p>
          </p:txBody>
        </p:sp>
        <p:grpSp>
          <p:nvGrpSpPr>
            <p:cNvPr name="Group 17" id="17"/>
            <p:cNvGrpSpPr/>
            <p:nvPr/>
          </p:nvGrpSpPr>
          <p:grpSpPr>
            <a:xfrm rot="0">
              <a:off x="0" y="990600"/>
              <a:ext cx="1168400" cy="63500"/>
              <a:chOff x="0" y="0"/>
              <a:chExt cx="1168400" cy="635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168400" cy="63500"/>
              </a:xfrm>
              <a:custGeom>
                <a:avLst/>
                <a:gdLst/>
                <a:ahLst/>
                <a:cxnLst/>
                <a:rect r="r" b="b" t="t" l="l"/>
                <a:pathLst>
                  <a:path h="63500" w="1168400">
                    <a:moveTo>
                      <a:pt x="0" y="0"/>
                    </a:moveTo>
                    <a:lnTo>
                      <a:pt x="1168400" y="0"/>
                    </a:lnTo>
                    <a:lnTo>
                      <a:pt x="1168400" y="63500"/>
                    </a:lnTo>
                    <a:lnTo>
                      <a:pt x="0" y="63500"/>
                    </a:lnTo>
                    <a:close/>
                  </a:path>
                </a:pathLst>
              </a:custGeom>
              <a:solidFill>
                <a:srgbClr val="06B6D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1168400" cy="101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</p:grpSp>
      <p:sp>
        <p:nvSpPr>
          <p:cNvPr name="TextBox 20" id="20"/>
          <p:cNvSpPr txBox="true"/>
          <p:nvPr/>
        </p:nvSpPr>
        <p:spPr>
          <a:xfrm rot="0">
            <a:off x="914400" y="9667875"/>
            <a:ext cx="4762500" cy="273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sz="1650">
                <a:solidFill>
                  <a:srgbClr val="94A3B8"/>
                </a:solidFill>
                <a:latin typeface="IBM Plex Mono"/>
                <a:ea typeface="IBM Plex Mono"/>
                <a:cs typeface="IBM Plex Mono"/>
                <a:sym typeface="IBM Plex Mono"/>
              </a:rPr>
              <a:t>FORENSICAI / 05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14400" y="2143125"/>
            <a:ext cx="7810500" cy="2857500"/>
            <a:chOff x="0" y="0"/>
            <a:chExt cx="10414000" cy="3810000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10414000" cy="3810000"/>
              <a:chOff x="0" y="0"/>
              <a:chExt cx="10414000" cy="38100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0414000" cy="3810000"/>
              </a:xfrm>
              <a:custGeom>
                <a:avLst/>
                <a:gdLst/>
                <a:ahLst/>
                <a:cxnLst/>
                <a:rect r="r" b="b" t="t" l="l"/>
                <a:pathLst>
                  <a:path h="3810000" w="104140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3810000"/>
                    </a:lnTo>
                    <a:lnTo>
                      <a:pt x="0" y="3810000"/>
                    </a:lnTo>
                    <a:close/>
                  </a:path>
                </a:pathLst>
              </a:custGeom>
              <a:solidFill>
                <a:srgbClr val="172033"/>
              </a:solidFill>
              <a:ln w="28575" cap="sq">
                <a:solidFill>
                  <a:srgbClr val="3B82F6"/>
                </a:solidFill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10414000" cy="384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482600" y="415925"/>
              <a:ext cx="8890000" cy="3549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3B82F6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01 / VISION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482600" y="1139825"/>
              <a:ext cx="8890000" cy="439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2025" b="true">
                  <a:solidFill>
                    <a:srgbClr val="F8FAFC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Vision Transformer ViT-Base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482600" y="2193925"/>
              <a:ext cx="8890000" cy="3549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94A3B8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86M params · FaceForensics++ trained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201150" y="2143125"/>
            <a:ext cx="7810500" cy="2857500"/>
            <a:chOff x="0" y="0"/>
            <a:chExt cx="10414000" cy="3810000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10414000" cy="3810000"/>
              <a:chOff x="0" y="0"/>
              <a:chExt cx="10414000" cy="38100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10414000" cy="3810000"/>
              </a:xfrm>
              <a:custGeom>
                <a:avLst/>
                <a:gdLst/>
                <a:ahLst/>
                <a:cxnLst/>
                <a:rect r="r" b="b" t="t" l="l"/>
                <a:pathLst>
                  <a:path h="3810000" w="104140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3810000"/>
                    </a:lnTo>
                    <a:lnTo>
                      <a:pt x="0" y="3810000"/>
                    </a:lnTo>
                    <a:close/>
                  </a:path>
                </a:pathLst>
              </a:custGeom>
              <a:solidFill>
                <a:srgbClr val="172033"/>
              </a:solidFill>
              <a:ln w="28575" cap="sq">
                <a:solidFill>
                  <a:srgbClr val="A855F7"/>
                </a:solidFill>
                <a:prstDash val="solid"/>
                <a:miter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38100"/>
                <a:ext cx="10414000" cy="384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2" id="32"/>
            <p:cNvSpPr txBox="true"/>
            <p:nvPr/>
          </p:nvSpPr>
          <p:spPr>
            <a:xfrm rot="0">
              <a:off x="482600" y="415925"/>
              <a:ext cx="8890000" cy="3549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A855F7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02 / AUDIO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482600" y="1139825"/>
              <a:ext cx="8890000" cy="439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2025" b="true">
                  <a:solidFill>
                    <a:srgbClr val="F8FAFC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Wav2Vec 2.0 Audio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482600" y="2193925"/>
              <a:ext cx="8890000" cy="3549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94A3B8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95M params · 16kHz raw waveform · TTS/clone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14400" y="5572125"/>
            <a:ext cx="7810500" cy="2857500"/>
            <a:chOff x="0" y="0"/>
            <a:chExt cx="10414000" cy="3810000"/>
          </a:xfrm>
        </p:grpSpPr>
        <p:grpSp>
          <p:nvGrpSpPr>
            <p:cNvPr name="Group 36" id="36"/>
            <p:cNvGrpSpPr/>
            <p:nvPr/>
          </p:nvGrpSpPr>
          <p:grpSpPr>
            <a:xfrm rot="0">
              <a:off x="0" y="0"/>
              <a:ext cx="10414000" cy="3810000"/>
              <a:chOff x="0" y="0"/>
              <a:chExt cx="10414000" cy="38100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10414000" cy="3810000"/>
              </a:xfrm>
              <a:custGeom>
                <a:avLst/>
                <a:gdLst/>
                <a:ahLst/>
                <a:cxnLst/>
                <a:rect r="r" b="b" t="t" l="l"/>
                <a:pathLst>
                  <a:path h="3810000" w="104140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3810000"/>
                    </a:lnTo>
                    <a:lnTo>
                      <a:pt x="0" y="3810000"/>
                    </a:lnTo>
                    <a:close/>
                  </a:path>
                </a:pathLst>
              </a:custGeom>
              <a:solidFill>
                <a:srgbClr val="172033"/>
              </a:solidFill>
              <a:ln w="28575" cap="sq">
                <a:solidFill>
                  <a:srgbClr val="22C55E"/>
                </a:solidFill>
                <a:prstDash val="solid"/>
                <a:miter/>
              </a:ln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38100"/>
                <a:ext cx="10414000" cy="384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9" id="39"/>
            <p:cNvSpPr txBox="true"/>
            <p:nvPr/>
          </p:nvSpPr>
          <p:spPr>
            <a:xfrm rot="0">
              <a:off x="482600" y="415925"/>
              <a:ext cx="8890000" cy="3549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22C55E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03 / FACE</a:t>
              </a:r>
            </a:p>
          </p:txBody>
        </p:sp>
        <p:sp>
          <p:nvSpPr>
            <p:cNvPr name="TextBox 40" id="40"/>
            <p:cNvSpPr txBox="true"/>
            <p:nvPr/>
          </p:nvSpPr>
          <p:spPr>
            <a:xfrm rot="0">
              <a:off x="482600" y="1139825"/>
              <a:ext cx="8890000" cy="439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2025" b="true">
                  <a:solidFill>
                    <a:srgbClr val="F8FAFC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MTCNN Face Localization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482600" y="2193925"/>
              <a:ext cx="8890000" cy="3549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94A3B8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5-point landmarks · 20% boundary margin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201150" y="5572125"/>
            <a:ext cx="7810500" cy="2857500"/>
            <a:chOff x="0" y="0"/>
            <a:chExt cx="10414000" cy="3810000"/>
          </a:xfrm>
        </p:grpSpPr>
        <p:grpSp>
          <p:nvGrpSpPr>
            <p:cNvPr name="Group 43" id="43"/>
            <p:cNvGrpSpPr/>
            <p:nvPr/>
          </p:nvGrpSpPr>
          <p:grpSpPr>
            <a:xfrm rot="0">
              <a:off x="0" y="0"/>
              <a:ext cx="10414000" cy="3810000"/>
              <a:chOff x="0" y="0"/>
              <a:chExt cx="10414000" cy="3810000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10414000" cy="3810000"/>
              </a:xfrm>
              <a:custGeom>
                <a:avLst/>
                <a:gdLst/>
                <a:ahLst/>
                <a:cxnLst/>
                <a:rect r="r" b="b" t="t" l="l"/>
                <a:pathLst>
                  <a:path h="3810000" w="104140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3810000"/>
                    </a:lnTo>
                    <a:lnTo>
                      <a:pt x="0" y="3810000"/>
                    </a:lnTo>
                    <a:close/>
                  </a:path>
                </a:pathLst>
              </a:custGeom>
              <a:solidFill>
                <a:srgbClr val="172033"/>
              </a:solidFill>
              <a:ln w="28575" cap="sq">
                <a:solidFill>
                  <a:srgbClr val="F59E0B"/>
                </a:solidFill>
                <a:prstDash val="solid"/>
                <a:miter/>
              </a:ln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0" y="-38100"/>
                <a:ext cx="10414000" cy="384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6" id="46"/>
            <p:cNvSpPr txBox="true"/>
            <p:nvPr/>
          </p:nvSpPr>
          <p:spPr>
            <a:xfrm rot="0">
              <a:off x="482600" y="415925"/>
              <a:ext cx="8890000" cy="3549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F59E0B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04 / TEMPORAL</a:t>
              </a:r>
            </a:p>
          </p:txBody>
        </p:sp>
        <p:sp>
          <p:nvSpPr>
            <p:cNvPr name="TextBox 47" id="47"/>
            <p:cNvSpPr txBox="true"/>
            <p:nvPr/>
          </p:nvSpPr>
          <p:spPr>
            <a:xfrm rot="0">
              <a:off x="482600" y="1139825"/>
              <a:ext cx="8890000" cy="439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2025" b="true">
                  <a:solidFill>
                    <a:srgbClr val="F8FAFC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Temporal Aggregation Engine</a:t>
              </a:r>
            </a:p>
          </p:txBody>
        </p:sp>
        <p:sp>
          <p:nvSpPr>
            <p:cNvPr name="TextBox 48" id="48"/>
            <p:cNvSpPr txBox="true"/>
            <p:nvPr/>
          </p:nvSpPr>
          <p:spPr>
            <a:xfrm rot="0">
              <a:off x="482600" y="2193925"/>
              <a:ext cx="8890000" cy="3549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94A3B8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Inter-frame jitter · variance · peak anomaly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668000" y="523875"/>
            <a:ext cx="6858000" cy="9001125"/>
            <a:chOff x="0" y="0"/>
            <a:chExt cx="9144000" cy="12001500"/>
          </a:xfrm>
        </p:grpSpPr>
        <p:sp>
          <p:nvSpPr>
            <p:cNvPr name="AutoShape 3" id="3"/>
            <p:cNvSpPr/>
            <p:nvPr/>
          </p:nvSpPr>
          <p:spPr>
            <a:xfrm>
              <a:off x="0" y="444500"/>
              <a:ext cx="9144000" cy="0"/>
            </a:xfrm>
            <a:prstGeom prst="line">
              <a:avLst/>
            </a:prstGeom>
            <a:ln cap="flat" w="254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" id="4"/>
            <p:cNvSpPr/>
            <p:nvPr/>
          </p:nvSpPr>
          <p:spPr>
            <a:xfrm>
              <a:off x="889000" y="0"/>
              <a:ext cx="0" cy="12001500"/>
            </a:xfrm>
            <a:prstGeom prst="line">
              <a:avLst/>
            </a:prstGeom>
            <a:ln cap="flat" w="127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" id="5"/>
            <p:cNvSpPr/>
            <p:nvPr/>
          </p:nvSpPr>
          <p:spPr>
            <a:xfrm>
              <a:off x="889000" y="2286000"/>
              <a:ext cx="8255000" cy="0"/>
            </a:xfrm>
            <a:prstGeom prst="line">
              <a:avLst/>
            </a:prstGeom>
            <a:ln cap="flat" w="254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" id="6"/>
            <p:cNvSpPr/>
            <p:nvPr/>
          </p:nvSpPr>
          <p:spPr>
            <a:xfrm>
              <a:off x="2413000" y="0"/>
              <a:ext cx="0" cy="12001500"/>
            </a:xfrm>
            <a:prstGeom prst="line">
              <a:avLst/>
            </a:prstGeom>
            <a:ln cap="flat" w="127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" id="7"/>
            <p:cNvSpPr/>
            <p:nvPr/>
          </p:nvSpPr>
          <p:spPr>
            <a:xfrm>
              <a:off x="1778000" y="4127500"/>
              <a:ext cx="7366000" cy="0"/>
            </a:xfrm>
            <a:prstGeom prst="line">
              <a:avLst/>
            </a:prstGeom>
            <a:ln cap="flat" w="254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" id="8"/>
            <p:cNvSpPr/>
            <p:nvPr/>
          </p:nvSpPr>
          <p:spPr>
            <a:xfrm>
              <a:off x="3937000" y="0"/>
              <a:ext cx="0" cy="12001500"/>
            </a:xfrm>
            <a:prstGeom prst="line">
              <a:avLst/>
            </a:prstGeom>
            <a:ln cap="flat" w="127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" id="9"/>
            <p:cNvSpPr/>
            <p:nvPr/>
          </p:nvSpPr>
          <p:spPr>
            <a:xfrm>
              <a:off x="2667000" y="5969000"/>
              <a:ext cx="6477000" cy="0"/>
            </a:xfrm>
            <a:prstGeom prst="line">
              <a:avLst/>
            </a:prstGeom>
            <a:ln cap="flat" w="254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0" id="10"/>
            <p:cNvSpPr/>
            <p:nvPr/>
          </p:nvSpPr>
          <p:spPr>
            <a:xfrm>
              <a:off x="5461000" y="0"/>
              <a:ext cx="0" cy="12001500"/>
            </a:xfrm>
            <a:prstGeom prst="line">
              <a:avLst/>
            </a:prstGeom>
            <a:ln cap="flat" w="127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1" id="11"/>
            <p:cNvSpPr/>
            <p:nvPr/>
          </p:nvSpPr>
          <p:spPr>
            <a:xfrm>
              <a:off x="3556000" y="7810500"/>
              <a:ext cx="5588000" cy="0"/>
            </a:xfrm>
            <a:prstGeom prst="line">
              <a:avLst/>
            </a:prstGeom>
            <a:ln cap="flat" w="254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2" id="12"/>
            <p:cNvSpPr/>
            <p:nvPr/>
          </p:nvSpPr>
          <p:spPr>
            <a:xfrm>
              <a:off x="6985000" y="0"/>
              <a:ext cx="0" cy="12001500"/>
            </a:xfrm>
            <a:prstGeom prst="line">
              <a:avLst/>
            </a:prstGeom>
            <a:ln cap="flat" w="127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3" id="13"/>
            <p:cNvSpPr/>
            <p:nvPr/>
          </p:nvSpPr>
          <p:spPr>
            <a:xfrm>
              <a:off x="4445000" y="9652000"/>
              <a:ext cx="4699000" cy="0"/>
            </a:xfrm>
            <a:prstGeom prst="line">
              <a:avLst/>
            </a:prstGeom>
            <a:ln cap="flat" w="254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4" id="14"/>
            <p:cNvSpPr/>
            <p:nvPr/>
          </p:nvSpPr>
          <p:spPr>
            <a:xfrm>
              <a:off x="8509000" y="0"/>
              <a:ext cx="0" cy="12001500"/>
            </a:xfrm>
            <a:prstGeom prst="line">
              <a:avLst/>
            </a:prstGeom>
            <a:ln cap="flat" w="127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914400" y="609600"/>
            <a:ext cx="16459200" cy="790575"/>
            <a:chOff x="0" y="0"/>
            <a:chExt cx="21945600" cy="1054100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-38100"/>
              <a:ext cx="21945600" cy="9138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98"/>
                </a:lnSpc>
              </a:pPr>
              <a:r>
                <a:rPr lang="en-US" sz="4350" b="true">
                  <a:solidFill>
                    <a:srgbClr val="06B6D4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Grad-CAM Attention Heatmaps: WHERE and WHY</a:t>
              </a:r>
            </a:p>
          </p:txBody>
        </p:sp>
        <p:grpSp>
          <p:nvGrpSpPr>
            <p:cNvPr name="Group 17" id="17"/>
            <p:cNvGrpSpPr/>
            <p:nvPr/>
          </p:nvGrpSpPr>
          <p:grpSpPr>
            <a:xfrm rot="0">
              <a:off x="0" y="990600"/>
              <a:ext cx="1168400" cy="63500"/>
              <a:chOff x="0" y="0"/>
              <a:chExt cx="1168400" cy="635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168400" cy="63500"/>
              </a:xfrm>
              <a:custGeom>
                <a:avLst/>
                <a:gdLst/>
                <a:ahLst/>
                <a:cxnLst/>
                <a:rect r="r" b="b" t="t" l="l"/>
                <a:pathLst>
                  <a:path h="63500" w="1168400">
                    <a:moveTo>
                      <a:pt x="0" y="0"/>
                    </a:moveTo>
                    <a:lnTo>
                      <a:pt x="1168400" y="0"/>
                    </a:lnTo>
                    <a:lnTo>
                      <a:pt x="1168400" y="63500"/>
                    </a:lnTo>
                    <a:lnTo>
                      <a:pt x="0" y="63500"/>
                    </a:lnTo>
                    <a:close/>
                  </a:path>
                </a:pathLst>
              </a:custGeom>
              <a:solidFill>
                <a:srgbClr val="06B6D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1168400" cy="101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</p:grpSp>
      <p:sp>
        <p:nvSpPr>
          <p:cNvPr name="TextBox 20" id="20"/>
          <p:cNvSpPr txBox="true"/>
          <p:nvPr/>
        </p:nvSpPr>
        <p:spPr>
          <a:xfrm rot="0">
            <a:off x="914400" y="9667875"/>
            <a:ext cx="4762500" cy="273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sz="1650">
                <a:solidFill>
                  <a:srgbClr val="94A3B8"/>
                </a:solidFill>
                <a:latin typeface="IBM Plex Mono"/>
                <a:ea typeface="IBM Plex Mono"/>
                <a:cs typeface="IBM Plex Mono"/>
                <a:sym typeface="IBM Plex Mono"/>
              </a:rPr>
              <a:t>FORENSICAI / 06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914400" y="2095500"/>
            <a:ext cx="7810500" cy="6667500"/>
          </a:xfrm>
          <a:custGeom>
            <a:avLst/>
            <a:gdLst/>
            <a:ahLst/>
            <a:cxnLst/>
            <a:rect r="r" b="b" t="t" l="l"/>
            <a:pathLst>
              <a:path h="6667500" w="7810500">
                <a:moveTo>
                  <a:pt x="0" y="0"/>
                </a:moveTo>
                <a:lnTo>
                  <a:pt x="7810500" y="0"/>
                </a:lnTo>
                <a:lnTo>
                  <a:pt x="7810500" y="6667500"/>
                </a:lnTo>
                <a:lnTo>
                  <a:pt x="0" y="6667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7" t="0" r="-67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2" id="22"/>
          <p:cNvSpPr txBox="true"/>
          <p:nvPr/>
        </p:nvSpPr>
        <p:spPr>
          <a:xfrm rot="0">
            <a:off x="9906000" y="2686050"/>
            <a:ext cx="6858000" cy="303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sz="1650">
                <a:solidFill>
                  <a:srgbClr val="F8FAF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  Self-attention rollout across all 12 ViT encoder blocks</a:t>
            </a:r>
          </a:p>
          <a:p>
            <a:pPr algn="l">
              <a:lnSpc>
                <a:spcPts val="2227"/>
              </a:lnSpc>
            </a:pPr>
          </a:p>
          <a:p>
            <a:pPr algn="l">
              <a:lnSpc>
                <a:spcPts val="2227"/>
              </a:lnSpc>
            </a:pPr>
            <a:r>
              <a:rPr lang="en-US" sz="1650">
                <a:solidFill>
                  <a:srgbClr val="F8FAF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  14×14 activation grid mapped to face pixel coordinates</a:t>
            </a:r>
          </a:p>
          <a:p>
            <a:pPr algn="l">
              <a:lnSpc>
                <a:spcPts val="2227"/>
              </a:lnSpc>
            </a:pPr>
          </a:p>
          <a:p>
            <a:pPr algn="l">
              <a:lnSpc>
                <a:spcPts val="2227"/>
              </a:lnSpc>
            </a:pPr>
            <a:r>
              <a:rPr lang="en-US" sz="1650">
                <a:solidFill>
                  <a:srgbClr val="F8FAF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  Highlights boundary seams, texture smoothing, blending artifacts</a:t>
            </a:r>
          </a:p>
          <a:p>
            <a:pPr algn="l">
              <a:lnSpc>
                <a:spcPts val="2227"/>
              </a:lnSpc>
            </a:pPr>
          </a:p>
          <a:p>
            <a:pPr algn="l">
              <a:lnSpc>
                <a:spcPts val="2227"/>
              </a:lnSpc>
            </a:pPr>
            <a:r>
              <a:rPr lang="en-US" sz="1650">
                <a:solidFill>
                  <a:srgbClr val="F8FAFC"/>
                </a:solidFill>
                <a:latin typeface="IBM Plex Mono"/>
                <a:ea typeface="IBM Plex Mono"/>
                <a:cs typeface="IBM Plex Mono"/>
                <a:sym typeface="IBM Plex Mono"/>
              </a:rPr>
              <a:t>04  Not a black box — every pixel activation is traceable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668000" y="523875"/>
            <a:ext cx="6858000" cy="9001125"/>
            <a:chOff x="0" y="0"/>
            <a:chExt cx="9144000" cy="12001500"/>
          </a:xfrm>
        </p:grpSpPr>
        <p:sp>
          <p:nvSpPr>
            <p:cNvPr name="AutoShape 3" id="3"/>
            <p:cNvSpPr/>
            <p:nvPr/>
          </p:nvSpPr>
          <p:spPr>
            <a:xfrm>
              <a:off x="0" y="444500"/>
              <a:ext cx="9144000" cy="0"/>
            </a:xfrm>
            <a:prstGeom prst="line">
              <a:avLst/>
            </a:prstGeom>
            <a:ln cap="flat" w="254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" id="4"/>
            <p:cNvSpPr/>
            <p:nvPr/>
          </p:nvSpPr>
          <p:spPr>
            <a:xfrm>
              <a:off x="889000" y="0"/>
              <a:ext cx="0" cy="12001500"/>
            </a:xfrm>
            <a:prstGeom prst="line">
              <a:avLst/>
            </a:prstGeom>
            <a:ln cap="flat" w="127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" id="5"/>
            <p:cNvSpPr/>
            <p:nvPr/>
          </p:nvSpPr>
          <p:spPr>
            <a:xfrm>
              <a:off x="889000" y="2286000"/>
              <a:ext cx="8255000" cy="0"/>
            </a:xfrm>
            <a:prstGeom prst="line">
              <a:avLst/>
            </a:prstGeom>
            <a:ln cap="flat" w="254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" id="6"/>
            <p:cNvSpPr/>
            <p:nvPr/>
          </p:nvSpPr>
          <p:spPr>
            <a:xfrm>
              <a:off x="2413000" y="0"/>
              <a:ext cx="0" cy="12001500"/>
            </a:xfrm>
            <a:prstGeom prst="line">
              <a:avLst/>
            </a:prstGeom>
            <a:ln cap="flat" w="127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" id="7"/>
            <p:cNvSpPr/>
            <p:nvPr/>
          </p:nvSpPr>
          <p:spPr>
            <a:xfrm>
              <a:off x="1778000" y="4127500"/>
              <a:ext cx="7366000" cy="0"/>
            </a:xfrm>
            <a:prstGeom prst="line">
              <a:avLst/>
            </a:prstGeom>
            <a:ln cap="flat" w="254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" id="8"/>
            <p:cNvSpPr/>
            <p:nvPr/>
          </p:nvSpPr>
          <p:spPr>
            <a:xfrm>
              <a:off x="3937000" y="0"/>
              <a:ext cx="0" cy="12001500"/>
            </a:xfrm>
            <a:prstGeom prst="line">
              <a:avLst/>
            </a:prstGeom>
            <a:ln cap="flat" w="127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" id="9"/>
            <p:cNvSpPr/>
            <p:nvPr/>
          </p:nvSpPr>
          <p:spPr>
            <a:xfrm>
              <a:off x="2667000" y="5969000"/>
              <a:ext cx="6477000" cy="0"/>
            </a:xfrm>
            <a:prstGeom prst="line">
              <a:avLst/>
            </a:prstGeom>
            <a:ln cap="flat" w="254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0" id="10"/>
            <p:cNvSpPr/>
            <p:nvPr/>
          </p:nvSpPr>
          <p:spPr>
            <a:xfrm>
              <a:off x="5461000" y="0"/>
              <a:ext cx="0" cy="12001500"/>
            </a:xfrm>
            <a:prstGeom prst="line">
              <a:avLst/>
            </a:prstGeom>
            <a:ln cap="flat" w="127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1" id="11"/>
            <p:cNvSpPr/>
            <p:nvPr/>
          </p:nvSpPr>
          <p:spPr>
            <a:xfrm>
              <a:off x="3556000" y="7810500"/>
              <a:ext cx="5588000" cy="0"/>
            </a:xfrm>
            <a:prstGeom prst="line">
              <a:avLst/>
            </a:prstGeom>
            <a:ln cap="flat" w="254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2" id="12"/>
            <p:cNvSpPr/>
            <p:nvPr/>
          </p:nvSpPr>
          <p:spPr>
            <a:xfrm>
              <a:off x="6985000" y="0"/>
              <a:ext cx="0" cy="12001500"/>
            </a:xfrm>
            <a:prstGeom prst="line">
              <a:avLst/>
            </a:prstGeom>
            <a:ln cap="flat" w="127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3" id="13"/>
            <p:cNvSpPr/>
            <p:nvPr/>
          </p:nvSpPr>
          <p:spPr>
            <a:xfrm>
              <a:off x="4445000" y="9652000"/>
              <a:ext cx="4699000" cy="0"/>
            </a:xfrm>
            <a:prstGeom prst="line">
              <a:avLst/>
            </a:prstGeom>
            <a:ln cap="flat" w="254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4" id="14"/>
            <p:cNvSpPr/>
            <p:nvPr/>
          </p:nvSpPr>
          <p:spPr>
            <a:xfrm>
              <a:off x="8509000" y="0"/>
              <a:ext cx="0" cy="12001500"/>
            </a:xfrm>
            <a:prstGeom prst="line">
              <a:avLst/>
            </a:prstGeom>
            <a:ln cap="flat" w="127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914400" y="609600"/>
            <a:ext cx="16459200" cy="790575"/>
            <a:chOff x="0" y="0"/>
            <a:chExt cx="21945600" cy="1054100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-28575"/>
              <a:ext cx="21945600" cy="8474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74"/>
                </a:lnSpc>
              </a:pPr>
              <a:r>
                <a:rPr lang="en-US" sz="4050" b="true">
                  <a:solidFill>
                    <a:srgbClr val="06B6D4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Evidence Fusion: Neural Networks Dominate (85–90% Weight)</a:t>
              </a:r>
            </a:p>
          </p:txBody>
        </p:sp>
        <p:grpSp>
          <p:nvGrpSpPr>
            <p:cNvPr name="Group 17" id="17"/>
            <p:cNvGrpSpPr/>
            <p:nvPr/>
          </p:nvGrpSpPr>
          <p:grpSpPr>
            <a:xfrm rot="0">
              <a:off x="0" y="990600"/>
              <a:ext cx="1168400" cy="63500"/>
              <a:chOff x="0" y="0"/>
              <a:chExt cx="1168400" cy="635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168400" cy="63500"/>
              </a:xfrm>
              <a:custGeom>
                <a:avLst/>
                <a:gdLst/>
                <a:ahLst/>
                <a:cxnLst/>
                <a:rect r="r" b="b" t="t" l="l"/>
                <a:pathLst>
                  <a:path h="63500" w="1168400">
                    <a:moveTo>
                      <a:pt x="0" y="0"/>
                    </a:moveTo>
                    <a:lnTo>
                      <a:pt x="1168400" y="0"/>
                    </a:lnTo>
                    <a:lnTo>
                      <a:pt x="1168400" y="63500"/>
                    </a:lnTo>
                    <a:lnTo>
                      <a:pt x="0" y="63500"/>
                    </a:lnTo>
                    <a:close/>
                  </a:path>
                </a:pathLst>
              </a:custGeom>
              <a:solidFill>
                <a:srgbClr val="06B6D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1168400" cy="101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</p:grpSp>
      <p:sp>
        <p:nvSpPr>
          <p:cNvPr name="TextBox 20" id="20"/>
          <p:cNvSpPr txBox="true"/>
          <p:nvPr/>
        </p:nvSpPr>
        <p:spPr>
          <a:xfrm rot="0">
            <a:off x="914400" y="9667875"/>
            <a:ext cx="4762500" cy="273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sz="1650">
                <a:solidFill>
                  <a:srgbClr val="94A3B8"/>
                </a:solidFill>
                <a:latin typeface="IBM Plex Mono"/>
                <a:ea typeface="IBM Plex Mono"/>
                <a:cs typeface="IBM Plex Mono"/>
                <a:sym typeface="IBM Plex Mono"/>
              </a:rPr>
              <a:t>FORENSICAI / 07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41049" y="1391167"/>
            <a:ext cx="8442902" cy="7599917"/>
          </a:xfrm>
          <a:prstGeom prst="rect">
            <a:avLst/>
          </a:prstGeom>
        </p:spPr>
      </p:pic>
      <p:sp>
        <p:nvSpPr>
          <p:cNvPr name="TextBox 22" id="22"/>
          <p:cNvSpPr txBox="true"/>
          <p:nvPr/>
        </p:nvSpPr>
        <p:spPr>
          <a:xfrm rot="0">
            <a:off x="9715500" y="2295525"/>
            <a:ext cx="6667500" cy="139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5"/>
              </a:lnSpc>
            </a:pPr>
            <a:r>
              <a:rPr lang="en-US" sz="1650">
                <a:solidFill>
                  <a:srgbClr val="F8FAFC"/>
                </a:solidFill>
                <a:latin typeface="IBM Plex Mono"/>
                <a:ea typeface="IBM Plex Mono"/>
                <a:cs typeface="IBM Plex Mono"/>
                <a:sym typeface="IBM Plex Mono"/>
              </a:rPr>
              <a:t>45%  VISUAL AI / ViT</a:t>
            </a:r>
          </a:p>
          <a:p>
            <a:pPr algn="l">
              <a:lnSpc>
                <a:spcPts val="2805"/>
              </a:lnSpc>
            </a:pPr>
            <a:r>
              <a:rPr lang="en-US" sz="1650">
                <a:solidFill>
                  <a:srgbClr val="F8FAFC"/>
                </a:solidFill>
                <a:latin typeface="IBM Plex Mono"/>
                <a:ea typeface="IBM Plex Mono"/>
                <a:cs typeface="IBM Plex Mono"/>
                <a:sym typeface="IBM Plex Mono"/>
              </a:rPr>
              <a:t>30%  AUDIO AI / Wav2Vec2</a:t>
            </a:r>
          </a:p>
          <a:p>
            <a:pPr algn="l">
              <a:lnSpc>
                <a:spcPts val="2805"/>
              </a:lnSpc>
            </a:pPr>
            <a:r>
              <a:rPr lang="en-US" sz="1650">
                <a:solidFill>
                  <a:srgbClr val="F8FAFC"/>
                </a:solidFill>
                <a:latin typeface="IBM Plex Mono"/>
                <a:ea typeface="IBM Plex Mono"/>
                <a:cs typeface="IBM Plex Mono"/>
                <a:sym typeface="IBM Plex Mono"/>
              </a:rPr>
              <a:t>15%  TEMPORAL AGGREGATION</a:t>
            </a:r>
          </a:p>
          <a:p>
            <a:pPr algn="l">
              <a:lnSpc>
                <a:spcPts val="2805"/>
              </a:lnSpc>
            </a:pPr>
            <a:r>
              <a:rPr lang="en-US" sz="1650">
                <a:solidFill>
                  <a:srgbClr val="F8FAFC"/>
                </a:solidFill>
                <a:latin typeface="IBM Plex Mono"/>
                <a:ea typeface="IBM Plex Mono"/>
                <a:cs typeface="IBM Plex Mono"/>
                <a:sym typeface="IBM Plex Mono"/>
              </a:rPr>
              <a:t>10%  SUPPORTING ELA / FFT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2381250" y="8334375"/>
            <a:ext cx="4524375" cy="247650"/>
            <a:chOff x="0" y="0"/>
            <a:chExt cx="6032500" cy="3302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032500" cy="330200"/>
            </a:xfrm>
            <a:custGeom>
              <a:avLst/>
              <a:gdLst/>
              <a:ahLst/>
              <a:cxnLst/>
              <a:rect r="r" b="b" t="t" l="l"/>
              <a:pathLst>
                <a:path h="330200" w="6032500">
                  <a:moveTo>
                    <a:pt x="0" y="0"/>
                  </a:moveTo>
                  <a:lnTo>
                    <a:pt x="6032500" y="0"/>
                  </a:lnTo>
                  <a:lnTo>
                    <a:pt x="6032500" y="330200"/>
                  </a:lnTo>
                  <a:lnTo>
                    <a:pt x="0" y="330200"/>
                  </a:lnTo>
                  <a:close/>
                </a:path>
              </a:pathLst>
            </a:custGeom>
            <a:solidFill>
              <a:srgbClr val="22C55E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60325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905625" y="8334375"/>
            <a:ext cx="4524375" cy="247650"/>
            <a:chOff x="0" y="0"/>
            <a:chExt cx="6032500" cy="3302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032500" cy="330200"/>
            </a:xfrm>
            <a:custGeom>
              <a:avLst/>
              <a:gdLst/>
              <a:ahLst/>
              <a:cxnLst/>
              <a:rect r="r" b="b" t="t" l="l"/>
              <a:pathLst>
                <a:path h="330200" w="6032500">
                  <a:moveTo>
                    <a:pt x="0" y="0"/>
                  </a:moveTo>
                  <a:lnTo>
                    <a:pt x="6032500" y="0"/>
                  </a:lnTo>
                  <a:lnTo>
                    <a:pt x="6032500" y="330200"/>
                  </a:lnTo>
                  <a:lnTo>
                    <a:pt x="0" y="330200"/>
                  </a:lnTo>
                  <a:close/>
                </a:path>
              </a:pathLst>
            </a:custGeom>
            <a:solidFill>
              <a:srgbClr val="F59E0B"/>
            </a:solidFill>
            <a:ln cap="sq">
              <a:noFill/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60325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430000" y="8334375"/>
            <a:ext cx="4476750" cy="247650"/>
            <a:chOff x="0" y="0"/>
            <a:chExt cx="5969000" cy="3302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969000" cy="330200"/>
            </a:xfrm>
            <a:custGeom>
              <a:avLst/>
              <a:gdLst/>
              <a:ahLst/>
              <a:cxnLst/>
              <a:rect r="r" b="b" t="t" l="l"/>
              <a:pathLst>
                <a:path h="330200" w="5969000">
                  <a:moveTo>
                    <a:pt x="0" y="0"/>
                  </a:moveTo>
                  <a:lnTo>
                    <a:pt x="5969000" y="0"/>
                  </a:lnTo>
                  <a:lnTo>
                    <a:pt x="5969000" y="330200"/>
                  </a:lnTo>
                  <a:lnTo>
                    <a:pt x="0" y="330200"/>
                  </a:lnTo>
                  <a:close/>
                </a:path>
              </a:pathLst>
            </a:custGeom>
            <a:solidFill>
              <a:srgbClr val="EF4444"/>
            </a:solidFill>
            <a:ln cap="sq">
              <a:noFill/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59690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2381250" y="8782050"/>
            <a:ext cx="13525500" cy="273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7"/>
              </a:lnSpc>
            </a:pPr>
            <a:r>
              <a:rPr lang="en-US" sz="1650">
                <a:solidFill>
                  <a:srgbClr val="F8FAFC"/>
                </a:solidFill>
                <a:latin typeface="IBM Plex Mono"/>
                <a:ea typeface="IBM Plex Mono"/>
                <a:cs typeface="IBM Plex Mono"/>
                <a:sym typeface="IBM Plex Mono"/>
              </a:rPr>
              <a:t>AUTHENTIC &lt;0.45       INCONCLUSIVE 0.45–0.70       POTENTIALLY MANIPULATED &gt;0.70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668000" y="523875"/>
            <a:ext cx="6858000" cy="9001125"/>
            <a:chOff x="0" y="0"/>
            <a:chExt cx="9144000" cy="12001500"/>
          </a:xfrm>
        </p:grpSpPr>
        <p:sp>
          <p:nvSpPr>
            <p:cNvPr name="AutoShape 3" id="3"/>
            <p:cNvSpPr/>
            <p:nvPr/>
          </p:nvSpPr>
          <p:spPr>
            <a:xfrm>
              <a:off x="0" y="444500"/>
              <a:ext cx="9144000" cy="0"/>
            </a:xfrm>
            <a:prstGeom prst="line">
              <a:avLst/>
            </a:prstGeom>
            <a:ln cap="flat" w="254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" id="4"/>
            <p:cNvSpPr/>
            <p:nvPr/>
          </p:nvSpPr>
          <p:spPr>
            <a:xfrm>
              <a:off x="889000" y="0"/>
              <a:ext cx="0" cy="12001500"/>
            </a:xfrm>
            <a:prstGeom prst="line">
              <a:avLst/>
            </a:prstGeom>
            <a:ln cap="flat" w="127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" id="5"/>
            <p:cNvSpPr/>
            <p:nvPr/>
          </p:nvSpPr>
          <p:spPr>
            <a:xfrm>
              <a:off x="889000" y="2286000"/>
              <a:ext cx="8255000" cy="0"/>
            </a:xfrm>
            <a:prstGeom prst="line">
              <a:avLst/>
            </a:prstGeom>
            <a:ln cap="flat" w="254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" id="6"/>
            <p:cNvSpPr/>
            <p:nvPr/>
          </p:nvSpPr>
          <p:spPr>
            <a:xfrm>
              <a:off x="2413000" y="0"/>
              <a:ext cx="0" cy="12001500"/>
            </a:xfrm>
            <a:prstGeom prst="line">
              <a:avLst/>
            </a:prstGeom>
            <a:ln cap="flat" w="127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" id="7"/>
            <p:cNvSpPr/>
            <p:nvPr/>
          </p:nvSpPr>
          <p:spPr>
            <a:xfrm>
              <a:off x="1778000" y="4127500"/>
              <a:ext cx="7366000" cy="0"/>
            </a:xfrm>
            <a:prstGeom prst="line">
              <a:avLst/>
            </a:prstGeom>
            <a:ln cap="flat" w="254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" id="8"/>
            <p:cNvSpPr/>
            <p:nvPr/>
          </p:nvSpPr>
          <p:spPr>
            <a:xfrm>
              <a:off x="3937000" y="0"/>
              <a:ext cx="0" cy="12001500"/>
            </a:xfrm>
            <a:prstGeom prst="line">
              <a:avLst/>
            </a:prstGeom>
            <a:ln cap="flat" w="127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" id="9"/>
            <p:cNvSpPr/>
            <p:nvPr/>
          </p:nvSpPr>
          <p:spPr>
            <a:xfrm>
              <a:off x="2667000" y="5969000"/>
              <a:ext cx="6477000" cy="0"/>
            </a:xfrm>
            <a:prstGeom prst="line">
              <a:avLst/>
            </a:prstGeom>
            <a:ln cap="flat" w="254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0" id="10"/>
            <p:cNvSpPr/>
            <p:nvPr/>
          </p:nvSpPr>
          <p:spPr>
            <a:xfrm>
              <a:off x="5461000" y="0"/>
              <a:ext cx="0" cy="12001500"/>
            </a:xfrm>
            <a:prstGeom prst="line">
              <a:avLst/>
            </a:prstGeom>
            <a:ln cap="flat" w="127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1" id="11"/>
            <p:cNvSpPr/>
            <p:nvPr/>
          </p:nvSpPr>
          <p:spPr>
            <a:xfrm>
              <a:off x="3556000" y="7810500"/>
              <a:ext cx="5588000" cy="0"/>
            </a:xfrm>
            <a:prstGeom prst="line">
              <a:avLst/>
            </a:prstGeom>
            <a:ln cap="flat" w="254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2" id="12"/>
            <p:cNvSpPr/>
            <p:nvPr/>
          </p:nvSpPr>
          <p:spPr>
            <a:xfrm>
              <a:off x="6985000" y="0"/>
              <a:ext cx="0" cy="12001500"/>
            </a:xfrm>
            <a:prstGeom prst="line">
              <a:avLst/>
            </a:prstGeom>
            <a:ln cap="flat" w="127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3" id="13"/>
            <p:cNvSpPr/>
            <p:nvPr/>
          </p:nvSpPr>
          <p:spPr>
            <a:xfrm>
              <a:off x="4445000" y="9652000"/>
              <a:ext cx="4699000" cy="0"/>
            </a:xfrm>
            <a:prstGeom prst="line">
              <a:avLst/>
            </a:prstGeom>
            <a:ln cap="flat" w="254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4" id="14"/>
            <p:cNvSpPr/>
            <p:nvPr/>
          </p:nvSpPr>
          <p:spPr>
            <a:xfrm>
              <a:off x="8509000" y="0"/>
              <a:ext cx="0" cy="12001500"/>
            </a:xfrm>
            <a:prstGeom prst="line">
              <a:avLst/>
            </a:prstGeom>
            <a:ln cap="flat" w="127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914400" y="609600"/>
            <a:ext cx="16459200" cy="790575"/>
            <a:chOff x="0" y="0"/>
            <a:chExt cx="21945600" cy="1054100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-38100"/>
              <a:ext cx="21945600" cy="9138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98"/>
                </a:lnSpc>
              </a:pPr>
              <a:r>
                <a:rPr lang="en-US" sz="4350" b="true">
                  <a:solidFill>
                    <a:srgbClr val="06B6D4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Immutable Block-Linked Forensic Custody Ledger</a:t>
              </a:r>
            </a:p>
          </p:txBody>
        </p:sp>
        <p:grpSp>
          <p:nvGrpSpPr>
            <p:cNvPr name="Group 17" id="17"/>
            <p:cNvGrpSpPr/>
            <p:nvPr/>
          </p:nvGrpSpPr>
          <p:grpSpPr>
            <a:xfrm rot="0">
              <a:off x="0" y="990600"/>
              <a:ext cx="1168400" cy="63500"/>
              <a:chOff x="0" y="0"/>
              <a:chExt cx="1168400" cy="635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168400" cy="63500"/>
              </a:xfrm>
              <a:custGeom>
                <a:avLst/>
                <a:gdLst/>
                <a:ahLst/>
                <a:cxnLst/>
                <a:rect r="r" b="b" t="t" l="l"/>
                <a:pathLst>
                  <a:path h="63500" w="1168400">
                    <a:moveTo>
                      <a:pt x="0" y="0"/>
                    </a:moveTo>
                    <a:lnTo>
                      <a:pt x="1168400" y="0"/>
                    </a:lnTo>
                    <a:lnTo>
                      <a:pt x="1168400" y="63500"/>
                    </a:lnTo>
                    <a:lnTo>
                      <a:pt x="0" y="63500"/>
                    </a:lnTo>
                    <a:close/>
                  </a:path>
                </a:pathLst>
              </a:custGeom>
              <a:solidFill>
                <a:srgbClr val="06B6D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1168400" cy="101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</p:grpSp>
      <p:sp>
        <p:nvSpPr>
          <p:cNvPr name="TextBox 20" id="20"/>
          <p:cNvSpPr txBox="true"/>
          <p:nvPr/>
        </p:nvSpPr>
        <p:spPr>
          <a:xfrm rot="0">
            <a:off x="914400" y="9667875"/>
            <a:ext cx="4762500" cy="273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sz="1650">
                <a:solidFill>
                  <a:srgbClr val="94A3B8"/>
                </a:solidFill>
                <a:latin typeface="IBM Plex Mono"/>
                <a:ea typeface="IBM Plex Mono"/>
                <a:cs typeface="IBM Plex Mono"/>
                <a:sym typeface="IBM Plex Mono"/>
              </a:rPr>
              <a:t>FORENSICAI / 08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666750" y="2857500"/>
            <a:ext cx="16811625" cy="1476375"/>
            <a:chOff x="0" y="0"/>
            <a:chExt cx="22415500" cy="1968500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3048000" cy="1968500"/>
              <a:chOff x="0" y="0"/>
              <a:chExt cx="3048000" cy="19685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3048000" cy="1968500"/>
              </a:xfrm>
              <a:custGeom>
                <a:avLst/>
                <a:gdLst/>
                <a:ahLst/>
                <a:cxnLst/>
                <a:rect r="r" b="b" t="t" l="l"/>
                <a:pathLst>
                  <a:path h="1968500" w="3048000">
                    <a:moveTo>
                      <a:pt x="31750" y="0"/>
                    </a:moveTo>
                    <a:lnTo>
                      <a:pt x="3016250" y="0"/>
                    </a:lnTo>
                    <a:cubicBezTo>
                      <a:pt x="3033785" y="0"/>
                      <a:pt x="3048000" y="14215"/>
                      <a:pt x="3048000" y="31750"/>
                    </a:cubicBezTo>
                    <a:lnTo>
                      <a:pt x="3048000" y="1936750"/>
                    </a:lnTo>
                    <a:cubicBezTo>
                      <a:pt x="3048000" y="1954285"/>
                      <a:pt x="3033785" y="1968500"/>
                      <a:pt x="3016250" y="1968500"/>
                    </a:cubicBezTo>
                    <a:lnTo>
                      <a:pt x="31750" y="1968500"/>
                    </a:lnTo>
                    <a:cubicBezTo>
                      <a:pt x="14215" y="1968500"/>
                      <a:pt x="0" y="1954285"/>
                      <a:pt x="0" y="1936750"/>
                    </a:cubicBezTo>
                    <a:lnTo>
                      <a:pt x="0" y="31750"/>
                    </a:lnTo>
                    <a:cubicBezTo>
                      <a:pt x="0" y="14215"/>
                      <a:pt x="14215" y="0"/>
                      <a:pt x="31750" y="0"/>
                    </a:cubicBezTo>
                    <a:close/>
                  </a:path>
                </a:pathLst>
              </a:custGeom>
              <a:solidFill>
                <a:srgbClr val="1E293B"/>
              </a:solidFill>
              <a:ln w="19050" cap="sq">
                <a:solidFill>
                  <a:srgbClr val="F59E0B"/>
                </a:solidFill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28575"/>
                <a:ext cx="3048000" cy="19970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00"/>
                  </a:lnSpc>
                </a:pPr>
                <a:r>
                  <a:rPr lang="en-US" sz="1500" b="true">
                    <a:solidFill>
                      <a:srgbClr val="F8FAFC"/>
                    </a:solidFill>
                    <a:latin typeface="IBM Plex Mono Bold"/>
                    <a:ea typeface="IBM Plex Mono Bold"/>
                    <a:cs typeface="IBM Plex Mono Bold"/>
                    <a:sym typeface="IBM Plex Mono Bold"/>
                  </a:rPr>
                  <a:t>GENESIS</a:t>
                </a:r>
              </a:p>
            </p:txBody>
          </p:sp>
        </p:grpSp>
        <p:sp>
          <p:nvSpPr>
            <p:cNvPr name="AutoShape 25" id="25"/>
            <p:cNvSpPr/>
            <p:nvPr/>
          </p:nvSpPr>
          <p:spPr>
            <a:xfrm>
              <a:off x="3048000" y="990600"/>
              <a:ext cx="698500" cy="0"/>
            </a:xfrm>
            <a:prstGeom prst="line">
              <a:avLst/>
            </a:prstGeom>
            <a:ln cap="rnd" w="63500">
              <a:solidFill>
                <a:srgbClr val="06B6D4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26" id="26"/>
            <p:cNvGrpSpPr/>
            <p:nvPr/>
          </p:nvGrpSpPr>
          <p:grpSpPr>
            <a:xfrm rot="0">
              <a:off x="3873500" y="0"/>
              <a:ext cx="3048000" cy="1968500"/>
              <a:chOff x="0" y="0"/>
              <a:chExt cx="3048000" cy="19685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3048000" cy="1968500"/>
              </a:xfrm>
              <a:custGeom>
                <a:avLst/>
                <a:gdLst/>
                <a:ahLst/>
                <a:cxnLst/>
                <a:rect r="r" b="b" t="t" l="l"/>
                <a:pathLst>
                  <a:path h="1968500" w="3048000">
                    <a:moveTo>
                      <a:pt x="31750" y="0"/>
                    </a:moveTo>
                    <a:lnTo>
                      <a:pt x="3016250" y="0"/>
                    </a:lnTo>
                    <a:cubicBezTo>
                      <a:pt x="3033785" y="0"/>
                      <a:pt x="3048000" y="14215"/>
                      <a:pt x="3048000" y="31750"/>
                    </a:cubicBezTo>
                    <a:lnTo>
                      <a:pt x="3048000" y="1936750"/>
                    </a:lnTo>
                    <a:cubicBezTo>
                      <a:pt x="3048000" y="1954285"/>
                      <a:pt x="3033785" y="1968500"/>
                      <a:pt x="3016250" y="1968500"/>
                    </a:cubicBezTo>
                    <a:lnTo>
                      <a:pt x="31750" y="1968500"/>
                    </a:lnTo>
                    <a:cubicBezTo>
                      <a:pt x="14215" y="1968500"/>
                      <a:pt x="0" y="1954285"/>
                      <a:pt x="0" y="1936750"/>
                    </a:cubicBezTo>
                    <a:lnTo>
                      <a:pt x="0" y="31750"/>
                    </a:lnTo>
                    <a:cubicBezTo>
                      <a:pt x="0" y="14215"/>
                      <a:pt x="14215" y="0"/>
                      <a:pt x="31750" y="0"/>
                    </a:cubicBezTo>
                    <a:close/>
                  </a:path>
                </a:pathLst>
              </a:custGeom>
              <a:solidFill>
                <a:srgbClr val="1E293B"/>
              </a:solidFill>
              <a:ln w="19050" cap="sq">
                <a:solidFill>
                  <a:srgbClr val="06B6D4"/>
                </a:solidFill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28575"/>
                <a:ext cx="3048000" cy="19970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00"/>
                  </a:lnSpc>
                </a:pPr>
                <a:r>
                  <a:rPr lang="en-US" sz="1500" b="true">
                    <a:solidFill>
                      <a:srgbClr val="F8FAFC"/>
                    </a:solidFill>
                    <a:latin typeface="IBM Plex Mono Bold"/>
                    <a:ea typeface="IBM Plex Mono Bold"/>
                    <a:cs typeface="IBM Plex Mono Bold"/>
                    <a:sym typeface="IBM Plex Mono Bold"/>
                  </a:rPr>
                  <a:t>INGESTION</a:t>
                </a:r>
              </a:p>
              <a:p>
                <a:pPr algn="ctr">
                  <a:lnSpc>
                    <a:spcPts val="2100"/>
                  </a:lnSpc>
                </a:pPr>
                <a:r>
                  <a:rPr lang="en-US" sz="1500" b="true">
                    <a:solidFill>
                      <a:srgbClr val="F8FAFC"/>
                    </a:solidFill>
                    <a:latin typeface="IBM Plex Mono Bold"/>
                    <a:ea typeface="IBM Plex Mono Bold"/>
                    <a:cs typeface="IBM Plex Mono Bold"/>
                    <a:sym typeface="IBM Plex Mono Bold"/>
                  </a:rPr>
                  <a:t>SHA-256</a:t>
                </a:r>
              </a:p>
            </p:txBody>
          </p:sp>
        </p:grpSp>
        <p:sp>
          <p:nvSpPr>
            <p:cNvPr name="AutoShape 29" id="29"/>
            <p:cNvSpPr/>
            <p:nvPr/>
          </p:nvSpPr>
          <p:spPr>
            <a:xfrm>
              <a:off x="6921500" y="990600"/>
              <a:ext cx="698500" cy="0"/>
            </a:xfrm>
            <a:prstGeom prst="line">
              <a:avLst/>
            </a:prstGeom>
            <a:ln cap="rnd" w="63500">
              <a:solidFill>
                <a:srgbClr val="06B6D4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30" id="30"/>
            <p:cNvGrpSpPr/>
            <p:nvPr/>
          </p:nvGrpSpPr>
          <p:grpSpPr>
            <a:xfrm rot="0">
              <a:off x="7747000" y="0"/>
              <a:ext cx="3048000" cy="1968500"/>
              <a:chOff x="0" y="0"/>
              <a:chExt cx="3048000" cy="19685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3048000" cy="1968500"/>
              </a:xfrm>
              <a:custGeom>
                <a:avLst/>
                <a:gdLst/>
                <a:ahLst/>
                <a:cxnLst/>
                <a:rect r="r" b="b" t="t" l="l"/>
                <a:pathLst>
                  <a:path h="1968500" w="3048000">
                    <a:moveTo>
                      <a:pt x="31750" y="0"/>
                    </a:moveTo>
                    <a:lnTo>
                      <a:pt x="3016250" y="0"/>
                    </a:lnTo>
                    <a:cubicBezTo>
                      <a:pt x="3033785" y="0"/>
                      <a:pt x="3048000" y="14215"/>
                      <a:pt x="3048000" y="31750"/>
                    </a:cubicBezTo>
                    <a:lnTo>
                      <a:pt x="3048000" y="1936750"/>
                    </a:lnTo>
                    <a:cubicBezTo>
                      <a:pt x="3048000" y="1954285"/>
                      <a:pt x="3033785" y="1968500"/>
                      <a:pt x="3016250" y="1968500"/>
                    </a:cubicBezTo>
                    <a:lnTo>
                      <a:pt x="31750" y="1968500"/>
                    </a:lnTo>
                    <a:cubicBezTo>
                      <a:pt x="14215" y="1968500"/>
                      <a:pt x="0" y="1954285"/>
                      <a:pt x="0" y="1936750"/>
                    </a:cubicBezTo>
                    <a:lnTo>
                      <a:pt x="0" y="31750"/>
                    </a:lnTo>
                    <a:cubicBezTo>
                      <a:pt x="0" y="14215"/>
                      <a:pt x="14215" y="0"/>
                      <a:pt x="31750" y="0"/>
                    </a:cubicBezTo>
                    <a:close/>
                  </a:path>
                </a:pathLst>
              </a:custGeom>
              <a:solidFill>
                <a:srgbClr val="1E293B"/>
              </a:solidFill>
              <a:ln w="19050" cap="sq">
                <a:solidFill>
                  <a:srgbClr val="06B6D4"/>
                </a:solidFill>
                <a:prstDash val="solid"/>
                <a:miter/>
              </a:ln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28575"/>
                <a:ext cx="3048000" cy="19970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00"/>
                  </a:lnSpc>
                </a:pPr>
                <a:r>
                  <a:rPr lang="en-US" sz="1500" b="true">
                    <a:solidFill>
                      <a:srgbClr val="F8FAFC"/>
                    </a:solidFill>
                    <a:latin typeface="IBM Plex Mono Bold"/>
                    <a:ea typeface="IBM Plex Mono Bold"/>
                    <a:cs typeface="IBM Plex Mono Bold"/>
                    <a:sym typeface="IBM Plex Mono Bold"/>
                  </a:rPr>
                  <a:t>MODEL</a:t>
                </a:r>
              </a:p>
              <a:p>
                <a:pPr algn="ctr">
                  <a:lnSpc>
                    <a:spcPts val="2100"/>
                  </a:lnSpc>
                </a:pPr>
                <a:r>
                  <a:rPr lang="en-US" sz="1500" b="true">
                    <a:solidFill>
                      <a:srgbClr val="F8FAFC"/>
                    </a:solidFill>
                    <a:latin typeface="IBM Plex Mono Bold"/>
                    <a:ea typeface="IBM Plex Mono Bold"/>
                    <a:cs typeface="IBM Plex Mono Bold"/>
                    <a:sym typeface="IBM Plex Mono Bold"/>
                  </a:rPr>
                  <a:t>EXECUTION</a:t>
                </a:r>
              </a:p>
            </p:txBody>
          </p:sp>
        </p:grpSp>
        <p:sp>
          <p:nvSpPr>
            <p:cNvPr name="AutoShape 33" id="33"/>
            <p:cNvSpPr/>
            <p:nvPr/>
          </p:nvSpPr>
          <p:spPr>
            <a:xfrm>
              <a:off x="10795000" y="990600"/>
              <a:ext cx="698500" cy="0"/>
            </a:xfrm>
            <a:prstGeom prst="line">
              <a:avLst/>
            </a:prstGeom>
            <a:ln cap="rnd" w="63500">
              <a:solidFill>
                <a:srgbClr val="06B6D4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34" id="34"/>
            <p:cNvGrpSpPr/>
            <p:nvPr/>
          </p:nvGrpSpPr>
          <p:grpSpPr>
            <a:xfrm rot="0">
              <a:off x="11620500" y="0"/>
              <a:ext cx="3048000" cy="1968500"/>
              <a:chOff x="0" y="0"/>
              <a:chExt cx="3048000" cy="19685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3048000" cy="1968500"/>
              </a:xfrm>
              <a:custGeom>
                <a:avLst/>
                <a:gdLst/>
                <a:ahLst/>
                <a:cxnLst/>
                <a:rect r="r" b="b" t="t" l="l"/>
                <a:pathLst>
                  <a:path h="1968500" w="3048000">
                    <a:moveTo>
                      <a:pt x="31750" y="0"/>
                    </a:moveTo>
                    <a:lnTo>
                      <a:pt x="3016250" y="0"/>
                    </a:lnTo>
                    <a:cubicBezTo>
                      <a:pt x="3033785" y="0"/>
                      <a:pt x="3048000" y="14215"/>
                      <a:pt x="3048000" y="31750"/>
                    </a:cubicBezTo>
                    <a:lnTo>
                      <a:pt x="3048000" y="1936750"/>
                    </a:lnTo>
                    <a:cubicBezTo>
                      <a:pt x="3048000" y="1954285"/>
                      <a:pt x="3033785" y="1968500"/>
                      <a:pt x="3016250" y="1968500"/>
                    </a:cubicBezTo>
                    <a:lnTo>
                      <a:pt x="31750" y="1968500"/>
                    </a:lnTo>
                    <a:cubicBezTo>
                      <a:pt x="14215" y="1968500"/>
                      <a:pt x="0" y="1954285"/>
                      <a:pt x="0" y="1936750"/>
                    </a:cubicBezTo>
                    <a:lnTo>
                      <a:pt x="0" y="31750"/>
                    </a:lnTo>
                    <a:cubicBezTo>
                      <a:pt x="0" y="14215"/>
                      <a:pt x="14215" y="0"/>
                      <a:pt x="31750" y="0"/>
                    </a:cubicBezTo>
                    <a:close/>
                  </a:path>
                </a:pathLst>
              </a:custGeom>
              <a:solidFill>
                <a:srgbClr val="1E293B"/>
              </a:solidFill>
              <a:ln w="19050" cap="sq">
                <a:solidFill>
                  <a:srgbClr val="06B6D4"/>
                </a:solidFill>
                <a:prstDash val="solid"/>
                <a:miter/>
              </a:ln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28575"/>
                <a:ext cx="3048000" cy="19970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00"/>
                  </a:lnSpc>
                </a:pPr>
                <a:r>
                  <a:rPr lang="en-US" sz="1500" b="true">
                    <a:solidFill>
                      <a:srgbClr val="F8FAFC"/>
                    </a:solidFill>
                    <a:latin typeface="IBM Plex Mono Bold"/>
                    <a:ea typeface="IBM Plex Mono Bold"/>
                    <a:cs typeface="IBM Plex Mono Bold"/>
                    <a:sym typeface="IBM Plex Mono Bold"/>
                  </a:rPr>
                  <a:t>FUSION</a:t>
                </a:r>
              </a:p>
            </p:txBody>
          </p:sp>
        </p:grpSp>
        <p:sp>
          <p:nvSpPr>
            <p:cNvPr name="AutoShape 37" id="37"/>
            <p:cNvSpPr/>
            <p:nvPr/>
          </p:nvSpPr>
          <p:spPr>
            <a:xfrm>
              <a:off x="14668500" y="990600"/>
              <a:ext cx="698500" cy="0"/>
            </a:xfrm>
            <a:prstGeom prst="line">
              <a:avLst/>
            </a:prstGeom>
            <a:ln cap="rnd" w="63500">
              <a:solidFill>
                <a:srgbClr val="06B6D4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38" id="38"/>
            <p:cNvGrpSpPr/>
            <p:nvPr/>
          </p:nvGrpSpPr>
          <p:grpSpPr>
            <a:xfrm rot="0">
              <a:off x="15494000" y="0"/>
              <a:ext cx="3048000" cy="1968500"/>
              <a:chOff x="0" y="0"/>
              <a:chExt cx="3048000" cy="196850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3048000" cy="1968500"/>
              </a:xfrm>
              <a:custGeom>
                <a:avLst/>
                <a:gdLst/>
                <a:ahLst/>
                <a:cxnLst/>
                <a:rect r="r" b="b" t="t" l="l"/>
                <a:pathLst>
                  <a:path h="1968500" w="3048000">
                    <a:moveTo>
                      <a:pt x="31750" y="0"/>
                    </a:moveTo>
                    <a:lnTo>
                      <a:pt x="3016250" y="0"/>
                    </a:lnTo>
                    <a:cubicBezTo>
                      <a:pt x="3033785" y="0"/>
                      <a:pt x="3048000" y="14215"/>
                      <a:pt x="3048000" y="31750"/>
                    </a:cubicBezTo>
                    <a:lnTo>
                      <a:pt x="3048000" y="1936750"/>
                    </a:lnTo>
                    <a:cubicBezTo>
                      <a:pt x="3048000" y="1954285"/>
                      <a:pt x="3033785" y="1968500"/>
                      <a:pt x="3016250" y="1968500"/>
                    </a:cubicBezTo>
                    <a:lnTo>
                      <a:pt x="31750" y="1968500"/>
                    </a:lnTo>
                    <a:cubicBezTo>
                      <a:pt x="14215" y="1968500"/>
                      <a:pt x="0" y="1954285"/>
                      <a:pt x="0" y="1936750"/>
                    </a:cubicBezTo>
                    <a:lnTo>
                      <a:pt x="0" y="31750"/>
                    </a:lnTo>
                    <a:cubicBezTo>
                      <a:pt x="0" y="14215"/>
                      <a:pt x="14215" y="0"/>
                      <a:pt x="31750" y="0"/>
                    </a:cubicBezTo>
                    <a:close/>
                  </a:path>
                </a:pathLst>
              </a:custGeom>
              <a:solidFill>
                <a:srgbClr val="1E293B"/>
              </a:solidFill>
              <a:ln w="19050" cap="sq">
                <a:solidFill>
                  <a:srgbClr val="06B6D4"/>
                </a:solidFill>
                <a:prstDash val="solid"/>
                <a:miter/>
              </a:ln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-28575"/>
                <a:ext cx="3048000" cy="19970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00"/>
                  </a:lnSpc>
                </a:pPr>
                <a:r>
                  <a:rPr lang="en-US" sz="1500" b="true">
                    <a:solidFill>
                      <a:srgbClr val="F8FAFC"/>
                    </a:solidFill>
                    <a:latin typeface="IBM Plex Mono Bold"/>
                    <a:ea typeface="IBM Plex Mono Bold"/>
                    <a:cs typeface="IBM Plex Mono Bold"/>
                    <a:sym typeface="IBM Plex Mono Bold"/>
                  </a:rPr>
                  <a:t>BOB</a:t>
                </a:r>
              </a:p>
              <a:p>
                <a:pPr algn="ctr">
                  <a:lnSpc>
                    <a:spcPts val="2100"/>
                  </a:lnSpc>
                </a:pPr>
                <a:r>
                  <a:rPr lang="en-US" sz="1500" b="true">
                    <a:solidFill>
                      <a:srgbClr val="F8FAFC"/>
                    </a:solidFill>
                    <a:latin typeface="IBM Plex Mono Bold"/>
                    <a:ea typeface="IBM Plex Mono Bold"/>
                    <a:cs typeface="IBM Plex Mono Bold"/>
                    <a:sym typeface="IBM Plex Mono Bold"/>
                  </a:rPr>
                  <a:t>REPORTING</a:t>
                </a:r>
              </a:p>
            </p:txBody>
          </p:sp>
        </p:grpSp>
        <p:sp>
          <p:nvSpPr>
            <p:cNvPr name="AutoShape 41" id="41"/>
            <p:cNvSpPr/>
            <p:nvPr/>
          </p:nvSpPr>
          <p:spPr>
            <a:xfrm>
              <a:off x="18542000" y="990600"/>
              <a:ext cx="698500" cy="0"/>
            </a:xfrm>
            <a:prstGeom prst="line">
              <a:avLst/>
            </a:prstGeom>
            <a:ln cap="rnd" w="63500">
              <a:solidFill>
                <a:srgbClr val="06B6D4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42" id="42"/>
            <p:cNvGrpSpPr/>
            <p:nvPr/>
          </p:nvGrpSpPr>
          <p:grpSpPr>
            <a:xfrm rot="0">
              <a:off x="19367500" y="0"/>
              <a:ext cx="3048000" cy="1968500"/>
              <a:chOff x="0" y="0"/>
              <a:chExt cx="3048000" cy="196850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3048000" cy="1968500"/>
              </a:xfrm>
              <a:custGeom>
                <a:avLst/>
                <a:gdLst/>
                <a:ahLst/>
                <a:cxnLst/>
                <a:rect r="r" b="b" t="t" l="l"/>
                <a:pathLst>
                  <a:path h="1968500" w="3048000">
                    <a:moveTo>
                      <a:pt x="31750" y="0"/>
                    </a:moveTo>
                    <a:lnTo>
                      <a:pt x="3016250" y="0"/>
                    </a:lnTo>
                    <a:cubicBezTo>
                      <a:pt x="3033785" y="0"/>
                      <a:pt x="3048000" y="14215"/>
                      <a:pt x="3048000" y="31750"/>
                    </a:cubicBezTo>
                    <a:lnTo>
                      <a:pt x="3048000" y="1936750"/>
                    </a:lnTo>
                    <a:cubicBezTo>
                      <a:pt x="3048000" y="1954285"/>
                      <a:pt x="3033785" y="1968500"/>
                      <a:pt x="3016250" y="1968500"/>
                    </a:cubicBezTo>
                    <a:lnTo>
                      <a:pt x="31750" y="1968500"/>
                    </a:lnTo>
                    <a:cubicBezTo>
                      <a:pt x="14215" y="1968500"/>
                      <a:pt x="0" y="1954285"/>
                      <a:pt x="0" y="1936750"/>
                    </a:cubicBezTo>
                    <a:lnTo>
                      <a:pt x="0" y="31750"/>
                    </a:lnTo>
                    <a:cubicBezTo>
                      <a:pt x="0" y="14215"/>
                      <a:pt x="14215" y="0"/>
                      <a:pt x="31750" y="0"/>
                    </a:cubicBezTo>
                    <a:close/>
                  </a:path>
                </a:pathLst>
              </a:custGeom>
              <a:solidFill>
                <a:srgbClr val="1E293B"/>
              </a:solidFill>
              <a:ln w="19050" cap="sq">
                <a:solidFill>
                  <a:srgbClr val="06B6D4"/>
                </a:solidFill>
                <a:prstDash val="solid"/>
                <a:miter/>
              </a:ln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-28575"/>
                <a:ext cx="3048000" cy="19970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00"/>
                  </a:lnSpc>
                </a:pPr>
                <a:r>
                  <a:rPr lang="en-US" sz="1500" b="true">
                    <a:solidFill>
                      <a:srgbClr val="F8FAFC"/>
                    </a:solidFill>
                    <a:latin typeface="IBM Plex Mono Bold"/>
                    <a:ea typeface="IBM Plex Mono Bold"/>
                    <a:cs typeface="IBM Plex Mono Bold"/>
                    <a:sym typeface="IBM Plex Mono Bold"/>
                  </a:rPr>
                  <a:t>EXPORT</a:t>
                </a:r>
              </a:p>
            </p:txBody>
          </p:sp>
        </p:grpSp>
      </p:grpSp>
      <p:grpSp>
        <p:nvGrpSpPr>
          <p:cNvPr name="Group 45" id="45"/>
          <p:cNvGrpSpPr/>
          <p:nvPr/>
        </p:nvGrpSpPr>
        <p:grpSpPr>
          <a:xfrm rot="0">
            <a:off x="857250" y="5667375"/>
            <a:ext cx="7524750" cy="762000"/>
            <a:chOff x="0" y="0"/>
            <a:chExt cx="10033000" cy="1016000"/>
          </a:xfrm>
        </p:grpSpPr>
        <p:grpSp>
          <p:nvGrpSpPr>
            <p:cNvPr name="Group 46" id="46"/>
            <p:cNvGrpSpPr/>
            <p:nvPr/>
          </p:nvGrpSpPr>
          <p:grpSpPr>
            <a:xfrm rot="0">
              <a:off x="0" y="0"/>
              <a:ext cx="10033000" cy="1016000"/>
              <a:chOff x="0" y="0"/>
              <a:chExt cx="10033000" cy="1016000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10033000" cy="1016000"/>
              </a:xfrm>
              <a:custGeom>
                <a:avLst/>
                <a:gdLst/>
                <a:ahLst/>
                <a:cxnLst/>
                <a:rect r="r" b="b" t="t" l="l"/>
                <a:pathLst>
                  <a:path h="1016000" w="1003300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1016000"/>
                    </a:lnTo>
                    <a:lnTo>
                      <a:pt x="0" y="1016000"/>
                    </a:lnTo>
                    <a:close/>
                  </a:path>
                </a:pathLst>
              </a:custGeom>
              <a:solidFill>
                <a:srgbClr val="172033"/>
              </a:solidFill>
              <a:ln w="9525" cap="sq">
                <a:solidFill>
                  <a:srgbClr val="06B6D4"/>
                </a:solidFill>
                <a:prstDash val="solid"/>
                <a:miter/>
              </a:ln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0" y="-38100"/>
                <a:ext cx="10033000" cy="105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9" id="49"/>
            <p:cNvSpPr txBox="true"/>
            <p:nvPr/>
          </p:nvSpPr>
          <p:spPr>
            <a:xfrm rot="0">
              <a:off x="317500" y="288925"/>
              <a:ext cx="9652000" cy="3549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67E8F9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LOCKED / SHA-256 + MD5 AT INGESTION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8953500" y="5667375"/>
            <a:ext cx="7524750" cy="762000"/>
            <a:chOff x="0" y="0"/>
            <a:chExt cx="10033000" cy="1016000"/>
          </a:xfrm>
        </p:grpSpPr>
        <p:grpSp>
          <p:nvGrpSpPr>
            <p:cNvPr name="Group 51" id="51"/>
            <p:cNvGrpSpPr/>
            <p:nvPr/>
          </p:nvGrpSpPr>
          <p:grpSpPr>
            <a:xfrm rot="0">
              <a:off x="0" y="0"/>
              <a:ext cx="10033000" cy="1016000"/>
              <a:chOff x="0" y="0"/>
              <a:chExt cx="10033000" cy="1016000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10033000" cy="1016000"/>
              </a:xfrm>
              <a:custGeom>
                <a:avLst/>
                <a:gdLst/>
                <a:ahLst/>
                <a:cxnLst/>
                <a:rect r="r" b="b" t="t" l="l"/>
                <a:pathLst>
                  <a:path h="1016000" w="1003300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1016000"/>
                    </a:lnTo>
                    <a:lnTo>
                      <a:pt x="0" y="1016000"/>
                    </a:lnTo>
                    <a:close/>
                  </a:path>
                </a:pathLst>
              </a:custGeom>
              <a:solidFill>
                <a:srgbClr val="172033"/>
              </a:solidFill>
              <a:ln w="9525" cap="sq">
                <a:solidFill>
                  <a:srgbClr val="06B6D4"/>
                </a:solidFill>
                <a:prstDash val="solid"/>
                <a:miter/>
              </a:ln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38100"/>
                <a:ext cx="10033000" cy="105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54" id="54"/>
            <p:cNvSpPr txBox="true"/>
            <p:nvPr/>
          </p:nvSpPr>
          <p:spPr>
            <a:xfrm rot="0">
              <a:off x="317500" y="288925"/>
              <a:ext cx="9652000" cy="3549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67E8F9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LOCKED / TIMESTAMPED MODEL EXECUTIONS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857250" y="6905625"/>
            <a:ext cx="7524750" cy="762000"/>
            <a:chOff x="0" y="0"/>
            <a:chExt cx="10033000" cy="1016000"/>
          </a:xfrm>
        </p:grpSpPr>
        <p:grpSp>
          <p:nvGrpSpPr>
            <p:cNvPr name="Group 56" id="56"/>
            <p:cNvGrpSpPr/>
            <p:nvPr/>
          </p:nvGrpSpPr>
          <p:grpSpPr>
            <a:xfrm rot="0">
              <a:off x="0" y="0"/>
              <a:ext cx="10033000" cy="1016000"/>
              <a:chOff x="0" y="0"/>
              <a:chExt cx="10033000" cy="1016000"/>
            </a:xfrm>
          </p:grpSpPr>
          <p:sp>
            <p:nvSpPr>
              <p:cNvPr name="Freeform 57" id="57"/>
              <p:cNvSpPr/>
              <p:nvPr/>
            </p:nvSpPr>
            <p:spPr>
              <a:xfrm flipH="false" flipV="false" rot="0">
                <a:off x="0" y="0"/>
                <a:ext cx="10033000" cy="1016000"/>
              </a:xfrm>
              <a:custGeom>
                <a:avLst/>
                <a:gdLst/>
                <a:ahLst/>
                <a:cxnLst/>
                <a:rect r="r" b="b" t="t" l="l"/>
                <a:pathLst>
                  <a:path h="1016000" w="1003300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1016000"/>
                    </a:lnTo>
                    <a:lnTo>
                      <a:pt x="0" y="1016000"/>
                    </a:lnTo>
                    <a:close/>
                  </a:path>
                </a:pathLst>
              </a:custGeom>
              <a:solidFill>
                <a:srgbClr val="172033"/>
              </a:solidFill>
              <a:ln w="9525" cap="sq">
                <a:solidFill>
                  <a:srgbClr val="06B6D4"/>
                </a:solidFill>
                <a:prstDash val="solid"/>
                <a:miter/>
              </a:ln>
            </p:spPr>
          </p:sp>
          <p:sp>
            <p:nvSpPr>
              <p:cNvPr name="TextBox 58" id="58"/>
              <p:cNvSpPr txBox="true"/>
              <p:nvPr/>
            </p:nvSpPr>
            <p:spPr>
              <a:xfrm>
                <a:off x="0" y="-38100"/>
                <a:ext cx="10033000" cy="105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59" id="59"/>
            <p:cNvSpPr txBox="true"/>
            <p:nvPr/>
          </p:nvSpPr>
          <p:spPr>
            <a:xfrm rot="0">
              <a:off x="317500" y="288925"/>
              <a:ext cx="9652000" cy="3549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67E8F9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LOCKED / ISO/IEC 27037 COMPLIANCE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8953500" y="6905625"/>
            <a:ext cx="7524750" cy="762000"/>
            <a:chOff x="0" y="0"/>
            <a:chExt cx="10033000" cy="1016000"/>
          </a:xfrm>
        </p:grpSpPr>
        <p:grpSp>
          <p:nvGrpSpPr>
            <p:cNvPr name="Group 61" id="61"/>
            <p:cNvGrpSpPr/>
            <p:nvPr/>
          </p:nvGrpSpPr>
          <p:grpSpPr>
            <a:xfrm rot="0">
              <a:off x="0" y="0"/>
              <a:ext cx="10033000" cy="1016000"/>
              <a:chOff x="0" y="0"/>
              <a:chExt cx="10033000" cy="1016000"/>
            </a:xfrm>
          </p:grpSpPr>
          <p:sp>
            <p:nvSpPr>
              <p:cNvPr name="Freeform 62" id="62"/>
              <p:cNvSpPr/>
              <p:nvPr/>
            </p:nvSpPr>
            <p:spPr>
              <a:xfrm flipH="false" flipV="false" rot="0">
                <a:off x="0" y="0"/>
                <a:ext cx="10033000" cy="1016000"/>
              </a:xfrm>
              <a:custGeom>
                <a:avLst/>
                <a:gdLst/>
                <a:ahLst/>
                <a:cxnLst/>
                <a:rect r="r" b="b" t="t" l="l"/>
                <a:pathLst>
                  <a:path h="1016000" w="1003300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1016000"/>
                    </a:lnTo>
                    <a:lnTo>
                      <a:pt x="0" y="1016000"/>
                    </a:lnTo>
                    <a:close/>
                  </a:path>
                </a:pathLst>
              </a:custGeom>
              <a:solidFill>
                <a:srgbClr val="172033"/>
              </a:solidFill>
              <a:ln w="9525" cap="sq">
                <a:solidFill>
                  <a:srgbClr val="06B6D4"/>
                </a:solidFill>
                <a:prstDash val="solid"/>
                <a:miter/>
              </a:ln>
            </p:spPr>
          </p:sp>
          <p:sp>
            <p:nvSpPr>
              <p:cNvPr name="TextBox 63" id="63"/>
              <p:cNvSpPr txBox="true"/>
              <p:nvPr/>
            </p:nvSpPr>
            <p:spPr>
              <a:xfrm>
                <a:off x="0" y="-38100"/>
                <a:ext cx="10033000" cy="105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64" id="64"/>
            <p:cNvSpPr txBox="true"/>
            <p:nvPr/>
          </p:nvSpPr>
          <p:spPr>
            <a:xfrm rot="0">
              <a:off x="317500" y="288925"/>
              <a:ext cx="9652000" cy="3549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F59E0B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LOCKED / FRE 901 / 902 READY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668000" y="523875"/>
            <a:ext cx="6858000" cy="9001125"/>
            <a:chOff x="0" y="0"/>
            <a:chExt cx="9144000" cy="12001500"/>
          </a:xfrm>
        </p:grpSpPr>
        <p:sp>
          <p:nvSpPr>
            <p:cNvPr name="AutoShape 3" id="3"/>
            <p:cNvSpPr/>
            <p:nvPr/>
          </p:nvSpPr>
          <p:spPr>
            <a:xfrm>
              <a:off x="0" y="444500"/>
              <a:ext cx="9144000" cy="0"/>
            </a:xfrm>
            <a:prstGeom prst="line">
              <a:avLst/>
            </a:prstGeom>
            <a:ln cap="flat" w="254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" id="4"/>
            <p:cNvSpPr/>
            <p:nvPr/>
          </p:nvSpPr>
          <p:spPr>
            <a:xfrm>
              <a:off x="889000" y="0"/>
              <a:ext cx="0" cy="12001500"/>
            </a:xfrm>
            <a:prstGeom prst="line">
              <a:avLst/>
            </a:prstGeom>
            <a:ln cap="flat" w="127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" id="5"/>
            <p:cNvSpPr/>
            <p:nvPr/>
          </p:nvSpPr>
          <p:spPr>
            <a:xfrm>
              <a:off x="889000" y="2286000"/>
              <a:ext cx="8255000" cy="0"/>
            </a:xfrm>
            <a:prstGeom prst="line">
              <a:avLst/>
            </a:prstGeom>
            <a:ln cap="flat" w="254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" id="6"/>
            <p:cNvSpPr/>
            <p:nvPr/>
          </p:nvSpPr>
          <p:spPr>
            <a:xfrm>
              <a:off x="2413000" y="0"/>
              <a:ext cx="0" cy="12001500"/>
            </a:xfrm>
            <a:prstGeom prst="line">
              <a:avLst/>
            </a:prstGeom>
            <a:ln cap="flat" w="127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" id="7"/>
            <p:cNvSpPr/>
            <p:nvPr/>
          </p:nvSpPr>
          <p:spPr>
            <a:xfrm>
              <a:off x="1778000" y="4127500"/>
              <a:ext cx="7366000" cy="0"/>
            </a:xfrm>
            <a:prstGeom prst="line">
              <a:avLst/>
            </a:prstGeom>
            <a:ln cap="flat" w="254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" id="8"/>
            <p:cNvSpPr/>
            <p:nvPr/>
          </p:nvSpPr>
          <p:spPr>
            <a:xfrm>
              <a:off x="3937000" y="0"/>
              <a:ext cx="0" cy="12001500"/>
            </a:xfrm>
            <a:prstGeom prst="line">
              <a:avLst/>
            </a:prstGeom>
            <a:ln cap="flat" w="127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" id="9"/>
            <p:cNvSpPr/>
            <p:nvPr/>
          </p:nvSpPr>
          <p:spPr>
            <a:xfrm>
              <a:off x="2667000" y="5969000"/>
              <a:ext cx="6477000" cy="0"/>
            </a:xfrm>
            <a:prstGeom prst="line">
              <a:avLst/>
            </a:prstGeom>
            <a:ln cap="flat" w="254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0" id="10"/>
            <p:cNvSpPr/>
            <p:nvPr/>
          </p:nvSpPr>
          <p:spPr>
            <a:xfrm>
              <a:off x="5461000" y="0"/>
              <a:ext cx="0" cy="12001500"/>
            </a:xfrm>
            <a:prstGeom prst="line">
              <a:avLst/>
            </a:prstGeom>
            <a:ln cap="flat" w="127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1" id="11"/>
            <p:cNvSpPr/>
            <p:nvPr/>
          </p:nvSpPr>
          <p:spPr>
            <a:xfrm>
              <a:off x="3556000" y="7810500"/>
              <a:ext cx="5588000" cy="0"/>
            </a:xfrm>
            <a:prstGeom prst="line">
              <a:avLst/>
            </a:prstGeom>
            <a:ln cap="flat" w="254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2" id="12"/>
            <p:cNvSpPr/>
            <p:nvPr/>
          </p:nvSpPr>
          <p:spPr>
            <a:xfrm>
              <a:off x="6985000" y="0"/>
              <a:ext cx="0" cy="12001500"/>
            </a:xfrm>
            <a:prstGeom prst="line">
              <a:avLst/>
            </a:prstGeom>
            <a:ln cap="flat" w="127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3" id="13"/>
            <p:cNvSpPr/>
            <p:nvPr/>
          </p:nvSpPr>
          <p:spPr>
            <a:xfrm>
              <a:off x="4445000" y="9652000"/>
              <a:ext cx="4699000" cy="0"/>
            </a:xfrm>
            <a:prstGeom prst="line">
              <a:avLst/>
            </a:prstGeom>
            <a:ln cap="flat" w="254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4" id="14"/>
            <p:cNvSpPr/>
            <p:nvPr/>
          </p:nvSpPr>
          <p:spPr>
            <a:xfrm>
              <a:off x="8509000" y="0"/>
              <a:ext cx="0" cy="12001500"/>
            </a:xfrm>
            <a:prstGeom prst="line">
              <a:avLst/>
            </a:prstGeom>
            <a:ln cap="flat" w="127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914400" y="609600"/>
            <a:ext cx="16459200" cy="790575"/>
            <a:chOff x="0" y="0"/>
            <a:chExt cx="21945600" cy="1054100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-38100"/>
              <a:ext cx="21945600" cy="9138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98"/>
                </a:lnSpc>
              </a:pPr>
              <a:r>
                <a:rPr lang="en-US" sz="4350" b="true">
                  <a:solidFill>
                    <a:srgbClr val="06B6D4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IBM Bob: Load-Bearing Forensic Reporting Agent</a:t>
              </a:r>
            </a:p>
          </p:txBody>
        </p:sp>
        <p:grpSp>
          <p:nvGrpSpPr>
            <p:cNvPr name="Group 17" id="17"/>
            <p:cNvGrpSpPr/>
            <p:nvPr/>
          </p:nvGrpSpPr>
          <p:grpSpPr>
            <a:xfrm rot="0">
              <a:off x="0" y="990600"/>
              <a:ext cx="1168400" cy="63500"/>
              <a:chOff x="0" y="0"/>
              <a:chExt cx="1168400" cy="635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168400" cy="63500"/>
              </a:xfrm>
              <a:custGeom>
                <a:avLst/>
                <a:gdLst/>
                <a:ahLst/>
                <a:cxnLst/>
                <a:rect r="r" b="b" t="t" l="l"/>
                <a:pathLst>
                  <a:path h="63500" w="1168400">
                    <a:moveTo>
                      <a:pt x="0" y="0"/>
                    </a:moveTo>
                    <a:lnTo>
                      <a:pt x="1168400" y="0"/>
                    </a:lnTo>
                    <a:lnTo>
                      <a:pt x="1168400" y="63500"/>
                    </a:lnTo>
                    <a:lnTo>
                      <a:pt x="0" y="63500"/>
                    </a:lnTo>
                    <a:close/>
                  </a:path>
                </a:pathLst>
              </a:custGeom>
              <a:solidFill>
                <a:srgbClr val="06B6D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1168400" cy="101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</p:grpSp>
      <p:sp>
        <p:nvSpPr>
          <p:cNvPr name="TextBox 20" id="20"/>
          <p:cNvSpPr txBox="true"/>
          <p:nvPr/>
        </p:nvSpPr>
        <p:spPr>
          <a:xfrm rot="0">
            <a:off x="914400" y="9667875"/>
            <a:ext cx="4762500" cy="273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sz="1650">
                <a:solidFill>
                  <a:srgbClr val="94A3B8"/>
                </a:solidFill>
                <a:latin typeface="IBM Plex Mono"/>
                <a:ea typeface="IBM Plex Mono"/>
                <a:cs typeface="IBM Plex Mono"/>
                <a:sym typeface="IBM Plex Mono"/>
              </a:rPr>
              <a:t>FORENSICAI / 09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47750" y="2047875"/>
            <a:ext cx="7239000" cy="5334000"/>
            <a:chOff x="0" y="0"/>
            <a:chExt cx="9652000" cy="7112000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9652000" cy="7112000"/>
              <a:chOff x="0" y="0"/>
              <a:chExt cx="9652000" cy="71120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9652000" cy="7112000"/>
              </a:xfrm>
              <a:custGeom>
                <a:avLst/>
                <a:gdLst/>
                <a:ahLst/>
                <a:cxnLst/>
                <a:rect r="r" b="b" t="t" l="l"/>
                <a:pathLst>
                  <a:path h="7112000" w="9652000">
                    <a:moveTo>
                      <a:pt x="0" y="0"/>
                    </a:moveTo>
                    <a:lnTo>
                      <a:pt x="9652000" y="0"/>
                    </a:lnTo>
                    <a:lnTo>
                      <a:pt x="9652000" y="7112000"/>
                    </a:lnTo>
                    <a:lnTo>
                      <a:pt x="0" y="7112000"/>
                    </a:lnTo>
                    <a:close/>
                  </a:path>
                </a:pathLst>
              </a:custGeom>
              <a:solidFill>
                <a:srgbClr val="172033"/>
              </a:solidFill>
              <a:ln w="19050" cap="sq">
                <a:solidFill>
                  <a:srgbClr val="06B6D4"/>
                </a:solidFill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9652000" cy="7150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508000" y="415925"/>
              <a:ext cx="8255000" cy="439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2025" b="true">
                  <a:solidFill>
                    <a:srgbClr val="67E8F9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WHAT BOB RECEIVES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508000" y="1492250"/>
              <a:ext cx="8255000" cy="14135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70"/>
                </a:lnSpc>
              </a:pPr>
              <a:r>
                <a:rPr lang="en-US" sz="1650">
                  <a:solidFill>
                    <a:srgbClr val="F8FAFC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Evidence package with scores</a:t>
              </a:r>
            </a:p>
            <a:p>
              <a:pPr algn="l">
                <a:lnSpc>
                  <a:spcPts val="2970"/>
                </a:lnSpc>
              </a:pPr>
              <a:r>
                <a:rPr lang="en-US" sz="1650">
                  <a:solidFill>
                    <a:srgbClr val="F8FAFC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Heatmap URLs</a:t>
              </a:r>
            </a:p>
            <a:p>
              <a:pPr algn="l">
                <a:lnSpc>
                  <a:spcPts val="2970"/>
                </a:lnSpc>
              </a:pPr>
              <a:r>
                <a:rPr lang="en-US" sz="1650">
                  <a:solidFill>
                    <a:srgbClr val="F8FAFC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Custody events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620250" y="2047875"/>
            <a:ext cx="7620000" cy="5334000"/>
            <a:chOff x="0" y="0"/>
            <a:chExt cx="10160000" cy="7112000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10160000" cy="7112000"/>
              <a:chOff x="0" y="0"/>
              <a:chExt cx="10160000" cy="71120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0160000" cy="7112000"/>
              </a:xfrm>
              <a:custGeom>
                <a:avLst/>
                <a:gdLst/>
                <a:ahLst/>
                <a:cxnLst/>
                <a:rect r="r" b="b" t="t" l="l"/>
                <a:pathLst>
                  <a:path h="7112000" w="10160000">
                    <a:moveTo>
                      <a:pt x="0" y="0"/>
                    </a:moveTo>
                    <a:lnTo>
                      <a:pt x="10160000" y="0"/>
                    </a:lnTo>
                    <a:lnTo>
                      <a:pt x="10160000" y="7112000"/>
                    </a:lnTo>
                    <a:lnTo>
                      <a:pt x="0" y="7112000"/>
                    </a:lnTo>
                    <a:close/>
                  </a:path>
                </a:pathLst>
              </a:custGeom>
              <a:solidFill>
                <a:srgbClr val="1E293B"/>
              </a:solidFill>
              <a:ln w="19050" cap="sq">
                <a:solidFill>
                  <a:srgbClr val="06B6D4"/>
                </a:solidFill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10160000" cy="7150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508000" y="415925"/>
              <a:ext cx="8255000" cy="439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2025" b="true">
                  <a:solidFill>
                    <a:srgbClr val="67E8F9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WHAT BOB GENERATES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508000" y="1530350"/>
              <a:ext cx="8890000" cy="21183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57"/>
                </a:lnSpc>
              </a:pPr>
              <a:r>
                <a:rPr lang="en-US" sz="1650">
                  <a:solidFill>
                    <a:srgbClr val="F8FAFC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13-section dossier with verdict</a:t>
              </a:r>
            </a:p>
            <a:p>
              <a:pPr algn="l">
                <a:lnSpc>
                  <a:spcPts val="2557"/>
                </a:lnSpc>
              </a:pPr>
              <a:r>
                <a:rPr lang="en-US" sz="1650">
                  <a:solidFill>
                    <a:srgbClr val="F8FAFC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Visual / audio / temporal analysis</a:t>
              </a:r>
            </a:p>
            <a:p>
              <a:pPr algn="l">
                <a:lnSpc>
                  <a:spcPts val="2557"/>
                </a:lnSpc>
              </a:pPr>
              <a:r>
                <a:rPr lang="en-US" sz="1650">
                  <a:solidFill>
                    <a:srgbClr val="F8FAFC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Conflicting evidence</a:t>
              </a:r>
            </a:p>
            <a:p>
              <a:pPr algn="l">
                <a:lnSpc>
                  <a:spcPts val="2557"/>
                </a:lnSpc>
              </a:pPr>
              <a:r>
                <a:rPr lang="en-US" sz="1650">
                  <a:solidFill>
                    <a:srgbClr val="F8FAFC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Recommendations</a:t>
              </a:r>
            </a:p>
            <a:p>
              <a:pPr algn="l">
                <a:lnSpc>
                  <a:spcPts val="2557"/>
                </a:lnSpc>
              </a:pPr>
              <a:r>
                <a:rPr lang="en-US" sz="1650">
                  <a:solidFill>
                    <a:srgbClr val="F8FAFC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Custody notes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2857500" y="8096250"/>
            <a:ext cx="12573000" cy="762000"/>
            <a:chOff x="0" y="0"/>
            <a:chExt cx="16764000" cy="1016000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0" y="0"/>
              <a:ext cx="16764000" cy="1016000"/>
              <a:chOff x="0" y="0"/>
              <a:chExt cx="16764000" cy="10160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16764000" cy="1016000"/>
              </a:xfrm>
              <a:custGeom>
                <a:avLst/>
                <a:gdLst/>
                <a:ahLst/>
                <a:cxnLst/>
                <a:rect r="r" b="b" t="t" l="l"/>
                <a:pathLst>
                  <a:path h="1016000" w="16764000">
                    <a:moveTo>
                      <a:pt x="0" y="0"/>
                    </a:moveTo>
                    <a:lnTo>
                      <a:pt x="16764000" y="0"/>
                    </a:lnTo>
                    <a:lnTo>
                      <a:pt x="16764000" y="1016000"/>
                    </a:lnTo>
                    <a:lnTo>
                      <a:pt x="0" y="1016000"/>
                    </a:lnTo>
                    <a:close/>
                  </a:path>
                </a:pathLst>
              </a:custGeom>
              <a:solidFill>
                <a:srgbClr val="3A2A12"/>
              </a:solidFill>
              <a:ln w="19050" cap="sq">
                <a:solidFill>
                  <a:srgbClr val="F59E0B"/>
                </a:solidFill>
                <a:prstDash val="solid"/>
                <a:miter/>
              </a:ln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38100"/>
                <a:ext cx="16764000" cy="105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7" id="37"/>
            <p:cNvSpPr txBox="true"/>
            <p:nvPr/>
          </p:nvSpPr>
          <p:spPr>
            <a:xfrm rot="0">
              <a:off x="381000" y="288925"/>
              <a:ext cx="16002000" cy="3549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27"/>
                </a:lnSpc>
              </a:pPr>
              <a:r>
                <a:rPr lang="en-US" sz="1650">
                  <a:solidFill>
                    <a:srgbClr val="F59E0B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FAIL-SOFT / Full AI analysis works even when Bob is offline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668000" y="523875"/>
            <a:ext cx="6858000" cy="9001125"/>
            <a:chOff x="0" y="0"/>
            <a:chExt cx="9144000" cy="12001500"/>
          </a:xfrm>
        </p:grpSpPr>
        <p:sp>
          <p:nvSpPr>
            <p:cNvPr name="AutoShape 3" id="3"/>
            <p:cNvSpPr/>
            <p:nvPr/>
          </p:nvSpPr>
          <p:spPr>
            <a:xfrm>
              <a:off x="0" y="444500"/>
              <a:ext cx="9144000" cy="0"/>
            </a:xfrm>
            <a:prstGeom prst="line">
              <a:avLst/>
            </a:prstGeom>
            <a:ln cap="flat" w="254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" id="4"/>
            <p:cNvSpPr/>
            <p:nvPr/>
          </p:nvSpPr>
          <p:spPr>
            <a:xfrm>
              <a:off x="889000" y="0"/>
              <a:ext cx="0" cy="12001500"/>
            </a:xfrm>
            <a:prstGeom prst="line">
              <a:avLst/>
            </a:prstGeom>
            <a:ln cap="flat" w="127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" id="5"/>
            <p:cNvSpPr/>
            <p:nvPr/>
          </p:nvSpPr>
          <p:spPr>
            <a:xfrm>
              <a:off x="889000" y="2286000"/>
              <a:ext cx="8255000" cy="0"/>
            </a:xfrm>
            <a:prstGeom prst="line">
              <a:avLst/>
            </a:prstGeom>
            <a:ln cap="flat" w="254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" id="6"/>
            <p:cNvSpPr/>
            <p:nvPr/>
          </p:nvSpPr>
          <p:spPr>
            <a:xfrm>
              <a:off x="2413000" y="0"/>
              <a:ext cx="0" cy="12001500"/>
            </a:xfrm>
            <a:prstGeom prst="line">
              <a:avLst/>
            </a:prstGeom>
            <a:ln cap="flat" w="127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" id="7"/>
            <p:cNvSpPr/>
            <p:nvPr/>
          </p:nvSpPr>
          <p:spPr>
            <a:xfrm>
              <a:off x="1778000" y="4127500"/>
              <a:ext cx="7366000" cy="0"/>
            </a:xfrm>
            <a:prstGeom prst="line">
              <a:avLst/>
            </a:prstGeom>
            <a:ln cap="flat" w="254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" id="8"/>
            <p:cNvSpPr/>
            <p:nvPr/>
          </p:nvSpPr>
          <p:spPr>
            <a:xfrm>
              <a:off x="3937000" y="0"/>
              <a:ext cx="0" cy="12001500"/>
            </a:xfrm>
            <a:prstGeom prst="line">
              <a:avLst/>
            </a:prstGeom>
            <a:ln cap="flat" w="127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" id="9"/>
            <p:cNvSpPr/>
            <p:nvPr/>
          </p:nvSpPr>
          <p:spPr>
            <a:xfrm>
              <a:off x="2667000" y="5969000"/>
              <a:ext cx="6477000" cy="0"/>
            </a:xfrm>
            <a:prstGeom prst="line">
              <a:avLst/>
            </a:prstGeom>
            <a:ln cap="flat" w="254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0" id="10"/>
            <p:cNvSpPr/>
            <p:nvPr/>
          </p:nvSpPr>
          <p:spPr>
            <a:xfrm>
              <a:off x="5461000" y="0"/>
              <a:ext cx="0" cy="12001500"/>
            </a:xfrm>
            <a:prstGeom prst="line">
              <a:avLst/>
            </a:prstGeom>
            <a:ln cap="flat" w="127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1" id="11"/>
            <p:cNvSpPr/>
            <p:nvPr/>
          </p:nvSpPr>
          <p:spPr>
            <a:xfrm>
              <a:off x="3556000" y="7810500"/>
              <a:ext cx="5588000" cy="0"/>
            </a:xfrm>
            <a:prstGeom prst="line">
              <a:avLst/>
            </a:prstGeom>
            <a:ln cap="flat" w="254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2" id="12"/>
            <p:cNvSpPr/>
            <p:nvPr/>
          </p:nvSpPr>
          <p:spPr>
            <a:xfrm>
              <a:off x="6985000" y="0"/>
              <a:ext cx="0" cy="12001500"/>
            </a:xfrm>
            <a:prstGeom prst="line">
              <a:avLst/>
            </a:prstGeom>
            <a:ln cap="flat" w="127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3" id="13"/>
            <p:cNvSpPr/>
            <p:nvPr/>
          </p:nvSpPr>
          <p:spPr>
            <a:xfrm>
              <a:off x="4445000" y="9652000"/>
              <a:ext cx="4699000" cy="0"/>
            </a:xfrm>
            <a:prstGeom prst="line">
              <a:avLst/>
            </a:prstGeom>
            <a:ln cap="flat" w="254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4" id="14"/>
            <p:cNvSpPr/>
            <p:nvPr/>
          </p:nvSpPr>
          <p:spPr>
            <a:xfrm>
              <a:off x="8509000" y="0"/>
              <a:ext cx="0" cy="12001500"/>
            </a:xfrm>
            <a:prstGeom prst="line">
              <a:avLst/>
            </a:prstGeom>
            <a:ln cap="flat" w="127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914400" y="609600"/>
            <a:ext cx="16459200" cy="790575"/>
            <a:chOff x="0" y="0"/>
            <a:chExt cx="21945600" cy="1054100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-38100"/>
              <a:ext cx="21945600" cy="9138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98"/>
                </a:lnSpc>
              </a:pPr>
              <a:r>
                <a:rPr lang="en-US" sz="4350" b="true">
                  <a:solidFill>
                    <a:srgbClr val="06B6D4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Interactive Q&amp;A Grounded in Evidence — No Hallucination</a:t>
              </a:r>
            </a:p>
          </p:txBody>
        </p:sp>
        <p:grpSp>
          <p:nvGrpSpPr>
            <p:cNvPr name="Group 17" id="17"/>
            <p:cNvGrpSpPr/>
            <p:nvPr/>
          </p:nvGrpSpPr>
          <p:grpSpPr>
            <a:xfrm rot="0">
              <a:off x="0" y="990600"/>
              <a:ext cx="1168400" cy="63500"/>
              <a:chOff x="0" y="0"/>
              <a:chExt cx="1168400" cy="635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168400" cy="63500"/>
              </a:xfrm>
              <a:custGeom>
                <a:avLst/>
                <a:gdLst/>
                <a:ahLst/>
                <a:cxnLst/>
                <a:rect r="r" b="b" t="t" l="l"/>
                <a:pathLst>
                  <a:path h="63500" w="1168400">
                    <a:moveTo>
                      <a:pt x="0" y="0"/>
                    </a:moveTo>
                    <a:lnTo>
                      <a:pt x="1168400" y="0"/>
                    </a:lnTo>
                    <a:lnTo>
                      <a:pt x="1168400" y="63500"/>
                    </a:lnTo>
                    <a:lnTo>
                      <a:pt x="0" y="63500"/>
                    </a:lnTo>
                    <a:close/>
                  </a:path>
                </a:pathLst>
              </a:custGeom>
              <a:solidFill>
                <a:srgbClr val="06B6D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1168400" cy="101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</p:grpSp>
      <p:sp>
        <p:nvSpPr>
          <p:cNvPr name="TextBox 20" id="20"/>
          <p:cNvSpPr txBox="true"/>
          <p:nvPr/>
        </p:nvSpPr>
        <p:spPr>
          <a:xfrm rot="0">
            <a:off x="914400" y="9667875"/>
            <a:ext cx="4762500" cy="273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sz="1650">
                <a:solidFill>
                  <a:srgbClr val="94A3B8"/>
                </a:solidFill>
                <a:latin typeface="IBM Plex Mono"/>
                <a:ea typeface="IBM Plex Mono"/>
                <a:cs typeface="IBM Plex Mono"/>
                <a:sym typeface="IBM Plex Mono"/>
              </a:rPr>
              <a:t>FORENSICAI / 10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47750" y="1809750"/>
            <a:ext cx="7620000" cy="952500"/>
            <a:chOff x="0" y="0"/>
            <a:chExt cx="10160000" cy="1270000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10160000" cy="1270000"/>
              <a:chOff x="0" y="0"/>
              <a:chExt cx="10160000" cy="12700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0160000" cy="1270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0" w="10160000">
                    <a:moveTo>
                      <a:pt x="0" y="0"/>
                    </a:moveTo>
                    <a:lnTo>
                      <a:pt x="10160000" y="0"/>
                    </a:lnTo>
                    <a:lnTo>
                      <a:pt x="10160000" y="1270000"/>
                    </a:lnTo>
                    <a:lnTo>
                      <a:pt x="0" y="1270000"/>
                    </a:lnTo>
                    <a:close/>
                  </a:path>
                </a:pathLst>
              </a:custGeom>
              <a:solidFill>
                <a:srgbClr val="1E293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10160000" cy="130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508000" y="352425"/>
              <a:ext cx="8890000" cy="3549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F8FAFC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Q / Why was this file flagged?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4572000" y="3143250"/>
            <a:ext cx="11906250" cy="1428750"/>
            <a:chOff x="0" y="0"/>
            <a:chExt cx="15875000" cy="1905000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15875000" cy="1905000"/>
              <a:chOff x="0" y="0"/>
              <a:chExt cx="15875000" cy="19050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15875000" cy="1905000"/>
              </a:xfrm>
              <a:custGeom>
                <a:avLst/>
                <a:gdLst/>
                <a:ahLst/>
                <a:cxnLst/>
                <a:rect r="r" b="b" t="t" l="l"/>
                <a:pathLst>
                  <a:path h="1905000" w="15875000">
                    <a:moveTo>
                      <a:pt x="0" y="0"/>
                    </a:moveTo>
                    <a:lnTo>
                      <a:pt x="15875000" y="0"/>
                    </a:lnTo>
                    <a:lnTo>
                      <a:pt x="15875000" y="1905000"/>
                    </a:lnTo>
                    <a:lnTo>
                      <a:pt x="0" y="1905000"/>
                    </a:lnTo>
                    <a:close/>
                  </a:path>
                </a:pathLst>
              </a:custGeom>
              <a:solidFill>
                <a:srgbClr val="10303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38100"/>
                <a:ext cx="15875000" cy="194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508000" y="415925"/>
              <a:ext cx="14605000" cy="7232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67E8F9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A / EV-TEM-001: Facial flickering across 4 frames…</a:t>
              </a:r>
            </a:p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67E8F9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 EV-VIS-001: Boundary seam artifact…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47750" y="5048250"/>
            <a:ext cx="7620000" cy="952500"/>
            <a:chOff x="0" y="0"/>
            <a:chExt cx="10160000" cy="1270000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0"/>
              <a:ext cx="10160000" cy="1270000"/>
              <a:chOff x="0" y="0"/>
              <a:chExt cx="10160000" cy="12700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10160000" cy="1270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0" w="10160000">
                    <a:moveTo>
                      <a:pt x="0" y="0"/>
                    </a:moveTo>
                    <a:lnTo>
                      <a:pt x="10160000" y="0"/>
                    </a:lnTo>
                    <a:lnTo>
                      <a:pt x="10160000" y="1270000"/>
                    </a:lnTo>
                    <a:lnTo>
                      <a:pt x="0" y="1270000"/>
                    </a:lnTo>
                    <a:close/>
                  </a:path>
                </a:pathLst>
              </a:custGeom>
              <a:solidFill>
                <a:srgbClr val="1E293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38100"/>
                <a:ext cx="10160000" cy="130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5" id="35"/>
            <p:cNvSpPr txBox="true"/>
            <p:nvPr/>
          </p:nvSpPr>
          <p:spPr>
            <a:xfrm rot="0">
              <a:off x="508000" y="352425"/>
              <a:ext cx="8890000" cy="3549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F8FAFC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Q / What models were used?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4572000" y="6429375"/>
            <a:ext cx="11906250" cy="952500"/>
            <a:chOff x="0" y="0"/>
            <a:chExt cx="15875000" cy="1270000"/>
          </a:xfrm>
        </p:grpSpPr>
        <p:grpSp>
          <p:nvGrpSpPr>
            <p:cNvPr name="Group 37" id="37"/>
            <p:cNvGrpSpPr/>
            <p:nvPr/>
          </p:nvGrpSpPr>
          <p:grpSpPr>
            <a:xfrm rot="0">
              <a:off x="0" y="0"/>
              <a:ext cx="15875000" cy="1270000"/>
              <a:chOff x="0" y="0"/>
              <a:chExt cx="15875000" cy="127000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15875000" cy="1270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0" w="15875000">
                    <a:moveTo>
                      <a:pt x="0" y="0"/>
                    </a:moveTo>
                    <a:lnTo>
                      <a:pt x="15875000" y="0"/>
                    </a:lnTo>
                    <a:lnTo>
                      <a:pt x="15875000" y="1270000"/>
                    </a:lnTo>
                    <a:lnTo>
                      <a:pt x="0" y="1270000"/>
                    </a:lnTo>
                    <a:close/>
                  </a:path>
                </a:pathLst>
              </a:custGeom>
              <a:solidFill>
                <a:srgbClr val="10303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38100"/>
                <a:ext cx="15875000" cy="130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0" id="40"/>
            <p:cNvSpPr txBox="true"/>
            <p:nvPr/>
          </p:nvSpPr>
          <p:spPr>
            <a:xfrm rot="0">
              <a:off x="508000" y="352425"/>
              <a:ext cx="14605000" cy="3549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67E8F9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A / ViT-Base, MTCNN, Wav2Vec2 + temporal engine.</a:t>
              </a: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2857500" y="8829675"/>
            <a:ext cx="12573000" cy="273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7"/>
              </a:lnSpc>
            </a:pPr>
            <a:r>
              <a:rPr lang="en-US" sz="1650">
                <a:solidFill>
                  <a:srgbClr val="F59E0B"/>
                </a:solidFill>
                <a:latin typeface="IBM Plex Mono"/>
                <a:ea typeface="IBM Plex Mono"/>
                <a:cs typeface="IBM Plex Mono"/>
                <a:sym typeface="IBM Plex Mono"/>
              </a:rPr>
              <a:t>Every answer cites exact evidence IDs. Bob never fabricates findings.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668000" y="523875"/>
            <a:ext cx="6858000" cy="9001125"/>
            <a:chOff x="0" y="0"/>
            <a:chExt cx="9144000" cy="12001500"/>
          </a:xfrm>
        </p:grpSpPr>
        <p:sp>
          <p:nvSpPr>
            <p:cNvPr name="AutoShape 3" id="3"/>
            <p:cNvSpPr/>
            <p:nvPr/>
          </p:nvSpPr>
          <p:spPr>
            <a:xfrm>
              <a:off x="0" y="444500"/>
              <a:ext cx="9144000" cy="0"/>
            </a:xfrm>
            <a:prstGeom prst="line">
              <a:avLst/>
            </a:prstGeom>
            <a:ln cap="flat" w="254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" id="4"/>
            <p:cNvSpPr/>
            <p:nvPr/>
          </p:nvSpPr>
          <p:spPr>
            <a:xfrm>
              <a:off x="889000" y="0"/>
              <a:ext cx="0" cy="12001500"/>
            </a:xfrm>
            <a:prstGeom prst="line">
              <a:avLst/>
            </a:prstGeom>
            <a:ln cap="flat" w="127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" id="5"/>
            <p:cNvSpPr/>
            <p:nvPr/>
          </p:nvSpPr>
          <p:spPr>
            <a:xfrm>
              <a:off x="889000" y="2286000"/>
              <a:ext cx="8255000" cy="0"/>
            </a:xfrm>
            <a:prstGeom prst="line">
              <a:avLst/>
            </a:prstGeom>
            <a:ln cap="flat" w="254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" id="6"/>
            <p:cNvSpPr/>
            <p:nvPr/>
          </p:nvSpPr>
          <p:spPr>
            <a:xfrm>
              <a:off x="2413000" y="0"/>
              <a:ext cx="0" cy="12001500"/>
            </a:xfrm>
            <a:prstGeom prst="line">
              <a:avLst/>
            </a:prstGeom>
            <a:ln cap="flat" w="127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" id="7"/>
            <p:cNvSpPr/>
            <p:nvPr/>
          </p:nvSpPr>
          <p:spPr>
            <a:xfrm>
              <a:off x="1778000" y="4127500"/>
              <a:ext cx="7366000" cy="0"/>
            </a:xfrm>
            <a:prstGeom prst="line">
              <a:avLst/>
            </a:prstGeom>
            <a:ln cap="flat" w="254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" id="8"/>
            <p:cNvSpPr/>
            <p:nvPr/>
          </p:nvSpPr>
          <p:spPr>
            <a:xfrm>
              <a:off x="3937000" y="0"/>
              <a:ext cx="0" cy="12001500"/>
            </a:xfrm>
            <a:prstGeom prst="line">
              <a:avLst/>
            </a:prstGeom>
            <a:ln cap="flat" w="127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" id="9"/>
            <p:cNvSpPr/>
            <p:nvPr/>
          </p:nvSpPr>
          <p:spPr>
            <a:xfrm>
              <a:off x="2667000" y="5969000"/>
              <a:ext cx="6477000" cy="0"/>
            </a:xfrm>
            <a:prstGeom prst="line">
              <a:avLst/>
            </a:prstGeom>
            <a:ln cap="flat" w="254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0" id="10"/>
            <p:cNvSpPr/>
            <p:nvPr/>
          </p:nvSpPr>
          <p:spPr>
            <a:xfrm>
              <a:off x="5461000" y="0"/>
              <a:ext cx="0" cy="12001500"/>
            </a:xfrm>
            <a:prstGeom prst="line">
              <a:avLst/>
            </a:prstGeom>
            <a:ln cap="flat" w="127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1" id="11"/>
            <p:cNvSpPr/>
            <p:nvPr/>
          </p:nvSpPr>
          <p:spPr>
            <a:xfrm>
              <a:off x="3556000" y="7810500"/>
              <a:ext cx="5588000" cy="0"/>
            </a:xfrm>
            <a:prstGeom prst="line">
              <a:avLst/>
            </a:prstGeom>
            <a:ln cap="flat" w="254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2" id="12"/>
            <p:cNvSpPr/>
            <p:nvPr/>
          </p:nvSpPr>
          <p:spPr>
            <a:xfrm>
              <a:off x="6985000" y="0"/>
              <a:ext cx="0" cy="12001500"/>
            </a:xfrm>
            <a:prstGeom prst="line">
              <a:avLst/>
            </a:prstGeom>
            <a:ln cap="flat" w="127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3" id="13"/>
            <p:cNvSpPr/>
            <p:nvPr/>
          </p:nvSpPr>
          <p:spPr>
            <a:xfrm>
              <a:off x="4445000" y="9652000"/>
              <a:ext cx="4699000" cy="0"/>
            </a:xfrm>
            <a:prstGeom prst="line">
              <a:avLst/>
            </a:prstGeom>
            <a:ln cap="flat" w="254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4" id="14"/>
            <p:cNvSpPr/>
            <p:nvPr/>
          </p:nvSpPr>
          <p:spPr>
            <a:xfrm>
              <a:off x="8509000" y="0"/>
              <a:ext cx="0" cy="12001500"/>
            </a:xfrm>
            <a:prstGeom prst="line">
              <a:avLst/>
            </a:prstGeom>
            <a:ln cap="flat" w="127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914400" y="609600"/>
            <a:ext cx="16459200" cy="790575"/>
            <a:chOff x="0" y="0"/>
            <a:chExt cx="21945600" cy="1054100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-28575"/>
              <a:ext cx="21945600" cy="8474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74"/>
                </a:lnSpc>
              </a:pPr>
              <a:r>
                <a:rPr lang="en-US" sz="4050" b="true">
                  <a:solidFill>
                    <a:srgbClr val="06B6D4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Court-Ready 19-Section Forensic Dossier — One Click Download</a:t>
              </a:r>
            </a:p>
          </p:txBody>
        </p:sp>
        <p:grpSp>
          <p:nvGrpSpPr>
            <p:cNvPr name="Group 17" id="17"/>
            <p:cNvGrpSpPr/>
            <p:nvPr/>
          </p:nvGrpSpPr>
          <p:grpSpPr>
            <a:xfrm rot="0">
              <a:off x="0" y="990600"/>
              <a:ext cx="1168400" cy="63500"/>
              <a:chOff x="0" y="0"/>
              <a:chExt cx="1168400" cy="635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168400" cy="63500"/>
              </a:xfrm>
              <a:custGeom>
                <a:avLst/>
                <a:gdLst/>
                <a:ahLst/>
                <a:cxnLst/>
                <a:rect r="r" b="b" t="t" l="l"/>
                <a:pathLst>
                  <a:path h="63500" w="1168400">
                    <a:moveTo>
                      <a:pt x="0" y="0"/>
                    </a:moveTo>
                    <a:lnTo>
                      <a:pt x="1168400" y="0"/>
                    </a:lnTo>
                    <a:lnTo>
                      <a:pt x="1168400" y="63500"/>
                    </a:lnTo>
                    <a:lnTo>
                      <a:pt x="0" y="63500"/>
                    </a:lnTo>
                    <a:close/>
                  </a:path>
                </a:pathLst>
              </a:custGeom>
              <a:solidFill>
                <a:srgbClr val="06B6D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1168400" cy="101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</p:grpSp>
      <p:sp>
        <p:nvSpPr>
          <p:cNvPr name="TextBox 20" id="20"/>
          <p:cNvSpPr txBox="true"/>
          <p:nvPr/>
        </p:nvSpPr>
        <p:spPr>
          <a:xfrm rot="0">
            <a:off x="914400" y="9667875"/>
            <a:ext cx="4762500" cy="273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sz="1650">
                <a:solidFill>
                  <a:srgbClr val="94A3B8"/>
                </a:solidFill>
                <a:latin typeface="IBM Plex Mono"/>
                <a:ea typeface="IBM Plex Mono"/>
                <a:cs typeface="IBM Plex Mono"/>
                <a:sym typeface="IBM Plex Mono"/>
              </a:rPr>
              <a:t>FORENSICAI / 11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47750" y="2190750"/>
            <a:ext cx="5143500" cy="5810250"/>
            <a:chOff x="0" y="0"/>
            <a:chExt cx="6858000" cy="7747000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6858000" cy="7747000"/>
              <a:chOff x="0" y="0"/>
              <a:chExt cx="6858000" cy="77470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6858000" cy="7747000"/>
              </a:xfrm>
              <a:custGeom>
                <a:avLst/>
                <a:gdLst/>
                <a:ahLst/>
                <a:cxnLst/>
                <a:rect r="r" b="b" t="t" l="l"/>
                <a:pathLst>
                  <a:path h="7747000" w="6858000">
                    <a:moveTo>
                      <a:pt x="0" y="0"/>
                    </a:moveTo>
                    <a:lnTo>
                      <a:pt x="6858000" y="0"/>
                    </a:lnTo>
                    <a:lnTo>
                      <a:pt x="6858000" y="7747000"/>
                    </a:lnTo>
                    <a:lnTo>
                      <a:pt x="0" y="7747000"/>
                    </a:lnTo>
                    <a:close/>
                  </a:path>
                </a:pathLst>
              </a:custGeom>
              <a:solidFill>
                <a:srgbClr val="172033"/>
              </a:solidFill>
              <a:ln w="19050" cap="sq">
                <a:solidFill>
                  <a:srgbClr val="06B6D4"/>
                </a:solidFill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6858000" cy="7785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508000" y="606425"/>
              <a:ext cx="6350000" cy="33013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F8FAFC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CASE ID &amp; PROVENANCE</a:t>
              </a:r>
            </a:p>
            <a:p>
              <a:pPr algn="l">
                <a:lnSpc>
                  <a:spcPts val="2227"/>
                </a:lnSpc>
              </a:pPr>
            </a:p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F8FAFC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MEDIA SHA-256</a:t>
              </a:r>
            </a:p>
            <a:p>
              <a:pPr algn="l">
                <a:lnSpc>
                  <a:spcPts val="2227"/>
                </a:lnSpc>
              </a:pPr>
            </a:p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F8FAFC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VERDICT &amp; CONFIDENCE</a:t>
              </a:r>
            </a:p>
            <a:p>
              <a:pPr algn="l">
                <a:lnSpc>
                  <a:spcPts val="2227"/>
                </a:lnSpc>
              </a:pPr>
            </a:p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F8FAFC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RISK LEVEL</a:t>
              </a:r>
            </a:p>
            <a:p>
              <a:pPr algn="l">
                <a:lnSpc>
                  <a:spcPts val="2227"/>
                </a:lnSpc>
              </a:pPr>
            </a:p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F8FAFC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MODEL TABLE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477000" y="2190750"/>
            <a:ext cx="5143500" cy="5810250"/>
            <a:chOff x="0" y="0"/>
            <a:chExt cx="6858000" cy="7747000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6858000" cy="7747000"/>
              <a:chOff x="0" y="0"/>
              <a:chExt cx="6858000" cy="77470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6858000" cy="7747000"/>
              </a:xfrm>
              <a:custGeom>
                <a:avLst/>
                <a:gdLst/>
                <a:ahLst/>
                <a:cxnLst/>
                <a:rect r="r" b="b" t="t" l="l"/>
                <a:pathLst>
                  <a:path h="7747000" w="6858000">
                    <a:moveTo>
                      <a:pt x="0" y="0"/>
                    </a:moveTo>
                    <a:lnTo>
                      <a:pt x="6858000" y="0"/>
                    </a:lnTo>
                    <a:lnTo>
                      <a:pt x="6858000" y="7747000"/>
                    </a:lnTo>
                    <a:lnTo>
                      <a:pt x="0" y="7747000"/>
                    </a:lnTo>
                    <a:close/>
                  </a:path>
                </a:pathLst>
              </a:custGeom>
              <a:solidFill>
                <a:srgbClr val="172033"/>
              </a:solidFill>
              <a:ln w="19050" cap="sq">
                <a:solidFill>
                  <a:srgbClr val="06B6D4"/>
                </a:solidFill>
                <a:prstDash val="solid"/>
                <a:miter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38100"/>
                <a:ext cx="6858000" cy="7785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508000" y="606425"/>
              <a:ext cx="6350000" cy="25647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F8FAFC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HEATMAP ANALYSIS</a:t>
              </a:r>
            </a:p>
            <a:p>
              <a:pPr algn="l">
                <a:lnSpc>
                  <a:spcPts val="2227"/>
                </a:lnSpc>
              </a:pPr>
            </a:p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F8FAFC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FRAME TIMELINE</a:t>
              </a:r>
            </a:p>
            <a:p>
              <a:pPr algn="l">
                <a:lnSpc>
                  <a:spcPts val="2227"/>
                </a:lnSpc>
              </a:pPr>
            </a:p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F8FAFC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MULTIMODAL CHANNEL FINDINGS</a:t>
              </a:r>
            </a:p>
            <a:p>
              <a:pPr algn="l">
                <a:lnSpc>
                  <a:spcPts val="2227"/>
                </a:lnSpc>
              </a:pPr>
            </a:p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F8FAFC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EVIDENCE TABLE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1906250" y="2190750"/>
            <a:ext cx="5143500" cy="5810250"/>
            <a:chOff x="0" y="0"/>
            <a:chExt cx="6858000" cy="7747000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0"/>
              <a:ext cx="6858000" cy="7747000"/>
              <a:chOff x="0" y="0"/>
              <a:chExt cx="6858000" cy="77470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6858000" cy="7747000"/>
              </a:xfrm>
              <a:custGeom>
                <a:avLst/>
                <a:gdLst/>
                <a:ahLst/>
                <a:cxnLst/>
                <a:rect r="r" b="b" t="t" l="l"/>
                <a:pathLst>
                  <a:path h="7747000" w="6858000">
                    <a:moveTo>
                      <a:pt x="0" y="0"/>
                    </a:moveTo>
                    <a:lnTo>
                      <a:pt x="6858000" y="0"/>
                    </a:lnTo>
                    <a:lnTo>
                      <a:pt x="6858000" y="7747000"/>
                    </a:lnTo>
                    <a:lnTo>
                      <a:pt x="0" y="7747000"/>
                    </a:lnTo>
                    <a:close/>
                  </a:path>
                </a:pathLst>
              </a:custGeom>
              <a:solidFill>
                <a:srgbClr val="172033"/>
              </a:solidFill>
              <a:ln w="19050" cap="sq">
                <a:solidFill>
                  <a:srgbClr val="06B6D4"/>
                </a:solidFill>
                <a:prstDash val="solid"/>
                <a:miter/>
              </a:ln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38100"/>
                <a:ext cx="6858000" cy="7785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5" id="35"/>
            <p:cNvSpPr txBox="true"/>
            <p:nvPr/>
          </p:nvSpPr>
          <p:spPr>
            <a:xfrm rot="0">
              <a:off x="508000" y="606425"/>
              <a:ext cx="6350000" cy="25647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F8FAFC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EVIDENCE DAG</a:t>
              </a:r>
            </a:p>
            <a:p>
              <a:pPr algn="l">
                <a:lnSpc>
                  <a:spcPts val="2227"/>
                </a:lnSpc>
              </a:pPr>
            </a:p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F8FAFC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BOB EXECUTIVE BRIEF</a:t>
              </a:r>
            </a:p>
            <a:p>
              <a:pPr algn="l">
                <a:lnSpc>
                  <a:spcPts val="2227"/>
                </a:lnSpc>
              </a:pPr>
            </a:p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F8FAFC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LIMITATIONS</a:t>
              </a:r>
            </a:p>
            <a:p>
              <a:pPr algn="l">
                <a:lnSpc>
                  <a:spcPts val="2227"/>
                </a:lnSpc>
              </a:pPr>
            </a:p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F8FAFC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CHAIN OF CUSTODY AUDIT LEDGER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4286250" y="8782050"/>
            <a:ext cx="9715500" cy="273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7"/>
              </a:lnSpc>
            </a:pPr>
            <a:r>
              <a:rPr lang="en-US" sz="1650">
                <a:solidFill>
                  <a:srgbClr val="67E8F9"/>
                </a:solidFill>
                <a:latin typeface="IBM Plex Mono"/>
                <a:ea typeface="IBM Plex Mono"/>
                <a:cs typeface="IBM Plex Mono"/>
                <a:sym typeface="IBM Plex Mono"/>
              </a:rPr>
              <a:t>SUBMIT TO FSL  /  COURT  /  FIR FILING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668000" y="523875"/>
            <a:ext cx="6858000" cy="9001125"/>
            <a:chOff x="0" y="0"/>
            <a:chExt cx="9144000" cy="12001500"/>
          </a:xfrm>
        </p:grpSpPr>
        <p:sp>
          <p:nvSpPr>
            <p:cNvPr name="AutoShape 3" id="3"/>
            <p:cNvSpPr/>
            <p:nvPr/>
          </p:nvSpPr>
          <p:spPr>
            <a:xfrm>
              <a:off x="0" y="444500"/>
              <a:ext cx="9144000" cy="0"/>
            </a:xfrm>
            <a:prstGeom prst="line">
              <a:avLst/>
            </a:prstGeom>
            <a:ln cap="flat" w="254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" id="4"/>
            <p:cNvSpPr/>
            <p:nvPr/>
          </p:nvSpPr>
          <p:spPr>
            <a:xfrm>
              <a:off x="889000" y="0"/>
              <a:ext cx="0" cy="12001500"/>
            </a:xfrm>
            <a:prstGeom prst="line">
              <a:avLst/>
            </a:prstGeom>
            <a:ln cap="flat" w="127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" id="5"/>
            <p:cNvSpPr/>
            <p:nvPr/>
          </p:nvSpPr>
          <p:spPr>
            <a:xfrm>
              <a:off x="889000" y="2286000"/>
              <a:ext cx="8255000" cy="0"/>
            </a:xfrm>
            <a:prstGeom prst="line">
              <a:avLst/>
            </a:prstGeom>
            <a:ln cap="flat" w="254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" id="6"/>
            <p:cNvSpPr/>
            <p:nvPr/>
          </p:nvSpPr>
          <p:spPr>
            <a:xfrm>
              <a:off x="2413000" y="0"/>
              <a:ext cx="0" cy="12001500"/>
            </a:xfrm>
            <a:prstGeom prst="line">
              <a:avLst/>
            </a:prstGeom>
            <a:ln cap="flat" w="127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" id="7"/>
            <p:cNvSpPr/>
            <p:nvPr/>
          </p:nvSpPr>
          <p:spPr>
            <a:xfrm>
              <a:off x="1778000" y="4127500"/>
              <a:ext cx="7366000" cy="0"/>
            </a:xfrm>
            <a:prstGeom prst="line">
              <a:avLst/>
            </a:prstGeom>
            <a:ln cap="flat" w="254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" id="8"/>
            <p:cNvSpPr/>
            <p:nvPr/>
          </p:nvSpPr>
          <p:spPr>
            <a:xfrm>
              <a:off x="3937000" y="0"/>
              <a:ext cx="0" cy="12001500"/>
            </a:xfrm>
            <a:prstGeom prst="line">
              <a:avLst/>
            </a:prstGeom>
            <a:ln cap="flat" w="127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" id="9"/>
            <p:cNvSpPr/>
            <p:nvPr/>
          </p:nvSpPr>
          <p:spPr>
            <a:xfrm>
              <a:off x="2667000" y="5969000"/>
              <a:ext cx="6477000" cy="0"/>
            </a:xfrm>
            <a:prstGeom prst="line">
              <a:avLst/>
            </a:prstGeom>
            <a:ln cap="flat" w="254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0" id="10"/>
            <p:cNvSpPr/>
            <p:nvPr/>
          </p:nvSpPr>
          <p:spPr>
            <a:xfrm>
              <a:off x="5461000" y="0"/>
              <a:ext cx="0" cy="12001500"/>
            </a:xfrm>
            <a:prstGeom prst="line">
              <a:avLst/>
            </a:prstGeom>
            <a:ln cap="flat" w="127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1" id="11"/>
            <p:cNvSpPr/>
            <p:nvPr/>
          </p:nvSpPr>
          <p:spPr>
            <a:xfrm>
              <a:off x="3556000" y="7810500"/>
              <a:ext cx="5588000" cy="0"/>
            </a:xfrm>
            <a:prstGeom prst="line">
              <a:avLst/>
            </a:prstGeom>
            <a:ln cap="flat" w="254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2" id="12"/>
            <p:cNvSpPr/>
            <p:nvPr/>
          </p:nvSpPr>
          <p:spPr>
            <a:xfrm>
              <a:off x="6985000" y="0"/>
              <a:ext cx="0" cy="12001500"/>
            </a:xfrm>
            <a:prstGeom prst="line">
              <a:avLst/>
            </a:prstGeom>
            <a:ln cap="flat" w="127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3" id="13"/>
            <p:cNvSpPr/>
            <p:nvPr/>
          </p:nvSpPr>
          <p:spPr>
            <a:xfrm>
              <a:off x="4445000" y="9652000"/>
              <a:ext cx="4699000" cy="0"/>
            </a:xfrm>
            <a:prstGeom prst="line">
              <a:avLst/>
            </a:prstGeom>
            <a:ln cap="flat" w="254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4" id="14"/>
            <p:cNvSpPr/>
            <p:nvPr/>
          </p:nvSpPr>
          <p:spPr>
            <a:xfrm>
              <a:off x="8509000" y="0"/>
              <a:ext cx="0" cy="12001500"/>
            </a:xfrm>
            <a:prstGeom prst="line">
              <a:avLst/>
            </a:prstGeom>
            <a:ln cap="flat" w="127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914400" y="609600"/>
            <a:ext cx="16459200" cy="790575"/>
            <a:chOff x="0" y="0"/>
            <a:chExt cx="21945600" cy="1054100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-38100"/>
              <a:ext cx="21945600" cy="9138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98"/>
                </a:lnSpc>
              </a:pPr>
              <a:r>
                <a:rPr lang="en-US" sz="4350" b="true">
                  <a:solidFill>
                    <a:srgbClr val="06B6D4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System in Action</a:t>
              </a:r>
            </a:p>
          </p:txBody>
        </p:sp>
        <p:grpSp>
          <p:nvGrpSpPr>
            <p:cNvPr name="Group 17" id="17"/>
            <p:cNvGrpSpPr/>
            <p:nvPr/>
          </p:nvGrpSpPr>
          <p:grpSpPr>
            <a:xfrm rot="0">
              <a:off x="0" y="990600"/>
              <a:ext cx="1168400" cy="63500"/>
              <a:chOff x="0" y="0"/>
              <a:chExt cx="1168400" cy="635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168400" cy="63500"/>
              </a:xfrm>
              <a:custGeom>
                <a:avLst/>
                <a:gdLst/>
                <a:ahLst/>
                <a:cxnLst/>
                <a:rect r="r" b="b" t="t" l="l"/>
                <a:pathLst>
                  <a:path h="63500" w="1168400">
                    <a:moveTo>
                      <a:pt x="0" y="0"/>
                    </a:moveTo>
                    <a:lnTo>
                      <a:pt x="1168400" y="0"/>
                    </a:lnTo>
                    <a:lnTo>
                      <a:pt x="1168400" y="63500"/>
                    </a:lnTo>
                    <a:lnTo>
                      <a:pt x="0" y="63500"/>
                    </a:lnTo>
                    <a:close/>
                  </a:path>
                </a:pathLst>
              </a:custGeom>
              <a:solidFill>
                <a:srgbClr val="06B6D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1168400" cy="101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</p:grpSp>
      <p:sp>
        <p:nvSpPr>
          <p:cNvPr name="TextBox 20" id="20"/>
          <p:cNvSpPr txBox="true"/>
          <p:nvPr/>
        </p:nvSpPr>
        <p:spPr>
          <a:xfrm rot="0">
            <a:off x="914400" y="9667875"/>
            <a:ext cx="4762500" cy="273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sz="1650">
                <a:solidFill>
                  <a:srgbClr val="94A3B8"/>
                </a:solidFill>
                <a:latin typeface="IBM Plex Mono"/>
                <a:ea typeface="IBM Plex Mono"/>
                <a:cs typeface="IBM Plex Mono"/>
                <a:sym typeface="IBM Plex Mono"/>
              </a:rPr>
              <a:t>FORENSICAI / 12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52500" y="2095500"/>
            <a:ext cx="7429500" cy="6191250"/>
            <a:chOff x="0" y="0"/>
            <a:chExt cx="9906000" cy="8255000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9906000" cy="8255000"/>
              <a:chOff x="0" y="0"/>
              <a:chExt cx="9906000" cy="82550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9906000" cy="8255000"/>
              </a:xfrm>
              <a:custGeom>
                <a:avLst/>
                <a:gdLst/>
                <a:ahLst/>
                <a:cxnLst/>
                <a:rect r="r" b="b" t="t" l="l"/>
                <a:pathLst>
                  <a:path h="8255000" w="9906000">
                    <a:moveTo>
                      <a:pt x="0" y="0"/>
                    </a:moveTo>
                    <a:lnTo>
                      <a:pt x="9906000" y="0"/>
                    </a:lnTo>
                    <a:lnTo>
                      <a:pt x="9906000" y="8255000"/>
                    </a:lnTo>
                    <a:lnTo>
                      <a:pt x="0" y="8255000"/>
                    </a:lnTo>
                    <a:close/>
                  </a:path>
                </a:pathLst>
              </a:custGeom>
              <a:solidFill>
                <a:srgbClr val="172033"/>
              </a:solidFill>
              <a:ln w="19050" cap="sq">
                <a:solidFill>
                  <a:srgbClr val="06B6D4"/>
                </a:solidFill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9906000" cy="829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Freeform 25" id="25"/>
            <p:cNvSpPr/>
            <p:nvPr/>
          </p:nvSpPr>
          <p:spPr>
            <a:xfrm flipH="false" flipV="false" rot="0">
              <a:off x="381000" y="381000"/>
              <a:ext cx="9144000" cy="4572000"/>
            </a:xfrm>
            <a:custGeom>
              <a:avLst/>
              <a:gdLst/>
              <a:ahLst/>
              <a:cxnLst/>
              <a:rect r="r" b="b" t="t" l="l"/>
              <a:pathLst>
                <a:path h="4572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4572000"/>
                  </a:lnTo>
                  <a:lnTo>
                    <a:pt x="0" y="457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 rot="0">
              <a:off x="635000" y="5540375"/>
              <a:ext cx="8636000" cy="12211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75"/>
                </a:lnSpc>
              </a:pPr>
              <a:r>
                <a:rPr lang="en-US" sz="1650">
                  <a:solidFill>
                    <a:srgbClr val="F8FAFC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IMAGE / PORTRAIT</a:t>
              </a:r>
            </a:p>
            <a:p>
              <a:pPr algn="l">
                <a:lnSpc>
                  <a:spcPts val="2475"/>
                </a:lnSpc>
              </a:pPr>
              <a:r>
                <a:rPr lang="en-US" sz="1650">
                  <a:solidFill>
                    <a:srgbClr val="F8FAFC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FAKE 89% CONFIDENCE</a:t>
              </a:r>
            </a:p>
            <a:p>
              <a:pPr algn="l">
                <a:lnSpc>
                  <a:spcPts val="2475"/>
                </a:lnSpc>
              </a:pPr>
              <a:r>
                <a:rPr lang="en-US" sz="1650">
                  <a:solidFill>
                    <a:srgbClr val="F8FAFC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Heatmap: boundary seam at jawline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334500" y="2095500"/>
            <a:ext cx="7620000" cy="6191250"/>
            <a:chOff x="0" y="0"/>
            <a:chExt cx="10160000" cy="8255000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10160000" cy="8255000"/>
              <a:chOff x="0" y="0"/>
              <a:chExt cx="10160000" cy="82550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0160000" cy="8255000"/>
              </a:xfrm>
              <a:custGeom>
                <a:avLst/>
                <a:gdLst/>
                <a:ahLst/>
                <a:cxnLst/>
                <a:rect r="r" b="b" t="t" l="l"/>
                <a:pathLst>
                  <a:path h="8255000" w="10160000">
                    <a:moveTo>
                      <a:pt x="0" y="0"/>
                    </a:moveTo>
                    <a:lnTo>
                      <a:pt x="10160000" y="0"/>
                    </a:lnTo>
                    <a:lnTo>
                      <a:pt x="10160000" y="8255000"/>
                    </a:lnTo>
                    <a:lnTo>
                      <a:pt x="0" y="8255000"/>
                    </a:lnTo>
                    <a:close/>
                  </a:path>
                </a:pathLst>
              </a:custGeom>
              <a:solidFill>
                <a:srgbClr val="172033"/>
              </a:solidFill>
              <a:ln w="19050" cap="sq">
                <a:solidFill>
                  <a:srgbClr val="A855F7"/>
                </a:solidFill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10160000" cy="829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AutoShape 31" id="31"/>
            <p:cNvSpPr/>
            <p:nvPr/>
          </p:nvSpPr>
          <p:spPr>
            <a:xfrm>
              <a:off x="381000" y="2476500"/>
              <a:ext cx="0" cy="381000"/>
            </a:xfrm>
            <a:prstGeom prst="line">
              <a:avLst/>
            </a:prstGeom>
            <a:ln cap="rnd" w="88900">
              <a:solidFill>
                <a:srgbClr val="EF44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2" id="32"/>
            <p:cNvSpPr/>
            <p:nvPr/>
          </p:nvSpPr>
          <p:spPr>
            <a:xfrm>
              <a:off x="622300" y="1524251"/>
              <a:ext cx="0" cy="2285499"/>
            </a:xfrm>
            <a:prstGeom prst="line">
              <a:avLst/>
            </a:prstGeom>
            <a:ln cap="rnd" w="88900">
              <a:solidFill>
                <a:srgbClr val="06B6D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3" id="33"/>
            <p:cNvSpPr/>
            <p:nvPr/>
          </p:nvSpPr>
          <p:spPr>
            <a:xfrm>
              <a:off x="863600" y="1083000"/>
              <a:ext cx="0" cy="3168001"/>
            </a:xfrm>
            <a:prstGeom prst="line">
              <a:avLst/>
            </a:prstGeom>
            <a:ln cap="rnd" w="88900">
              <a:solidFill>
                <a:srgbClr val="06B6D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4" id="34"/>
            <p:cNvSpPr/>
            <p:nvPr/>
          </p:nvSpPr>
          <p:spPr>
            <a:xfrm>
              <a:off x="1104900" y="1389532"/>
              <a:ext cx="0" cy="2554937"/>
            </a:xfrm>
            <a:prstGeom prst="line">
              <a:avLst/>
            </a:prstGeom>
            <a:ln cap="rnd" w="88900">
              <a:solidFill>
                <a:srgbClr val="06B6D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5" id="35"/>
            <p:cNvSpPr/>
            <p:nvPr/>
          </p:nvSpPr>
          <p:spPr>
            <a:xfrm>
              <a:off x="1346200" y="2279355"/>
              <a:ext cx="0" cy="775289"/>
            </a:xfrm>
            <a:prstGeom prst="line">
              <a:avLst/>
            </a:prstGeom>
            <a:ln cap="rnd" w="88900">
              <a:solidFill>
                <a:srgbClr val="06B6D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6" id="36"/>
            <p:cNvSpPr/>
            <p:nvPr/>
          </p:nvSpPr>
          <p:spPr>
            <a:xfrm>
              <a:off x="1587500" y="1678029"/>
              <a:ext cx="0" cy="1977942"/>
            </a:xfrm>
            <a:prstGeom prst="line">
              <a:avLst/>
            </a:prstGeom>
            <a:ln cap="rnd" w="88900">
              <a:solidFill>
                <a:srgbClr val="EF44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7" id="37"/>
            <p:cNvSpPr/>
            <p:nvPr/>
          </p:nvSpPr>
          <p:spPr>
            <a:xfrm>
              <a:off x="1828800" y="1110890"/>
              <a:ext cx="0" cy="3112219"/>
            </a:xfrm>
            <a:prstGeom prst="line">
              <a:avLst/>
            </a:prstGeom>
            <a:ln cap="rnd" w="88900">
              <a:solidFill>
                <a:srgbClr val="06B6D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8" id="38"/>
            <p:cNvSpPr/>
            <p:nvPr/>
          </p:nvSpPr>
          <p:spPr>
            <a:xfrm>
              <a:off x="2070100" y="1276569"/>
              <a:ext cx="0" cy="2780863"/>
            </a:xfrm>
            <a:prstGeom prst="line">
              <a:avLst/>
            </a:prstGeom>
            <a:ln cap="rnd" w="88900">
              <a:solidFill>
                <a:srgbClr val="06B6D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9" id="39"/>
            <p:cNvSpPr/>
            <p:nvPr/>
          </p:nvSpPr>
          <p:spPr>
            <a:xfrm>
              <a:off x="2311400" y="2086157"/>
              <a:ext cx="0" cy="1161687"/>
            </a:xfrm>
            <a:prstGeom prst="line">
              <a:avLst/>
            </a:prstGeom>
            <a:ln cap="rnd" w="88900">
              <a:solidFill>
                <a:srgbClr val="06B6D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0" id="40"/>
            <p:cNvSpPr/>
            <p:nvPr/>
          </p:nvSpPr>
          <p:spPr>
            <a:xfrm>
              <a:off x="2552700" y="1847788"/>
              <a:ext cx="0" cy="1638423"/>
            </a:xfrm>
            <a:prstGeom prst="line">
              <a:avLst/>
            </a:prstGeom>
            <a:ln cap="rnd" w="88900">
              <a:solidFill>
                <a:srgbClr val="06B6D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1" id="41"/>
            <p:cNvSpPr/>
            <p:nvPr/>
          </p:nvSpPr>
          <p:spPr>
            <a:xfrm>
              <a:off x="2794000" y="1166114"/>
              <a:ext cx="0" cy="3001772"/>
            </a:xfrm>
            <a:prstGeom prst="line">
              <a:avLst/>
            </a:prstGeom>
            <a:ln cap="rnd" w="88900">
              <a:solidFill>
                <a:srgbClr val="EF44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2" id="42"/>
            <p:cNvSpPr/>
            <p:nvPr/>
          </p:nvSpPr>
          <p:spPr>
            <a:xfrm>
              <a:off x="3035300" y="1187622"/>
              <a:ext cx="0" cy="2958756"/>
            </a:xfrm>
            <a:prstGeom prst="line">
              <a:avLst/>
            </a:prstGeom>
            <a:ln cap="rnd" w="88900">
              <a:solidFill>
                <a:srgbClr val="06B6D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3" id="43"/>
            <p:cNvSpPr/>
            <p:nvPr/>
          </p:nvSpPr>
          <p:spPr>
            <a:xfrm>
              <a:off x="3276600" y="1900770"/>
              <a:ext cx="0" cy="1532459"/>
            </a:xfrm>
            <a:prstGeom prst="line">
              <a:avLst/>
            </a:prstGeom>
            <a:ln cap="rnd" w="88900">
              <a:solidFill>
                <a:srgbClr val="06B6D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4" id="44"/>
            <p:cNvSpPr/>
            <p:nvPr/>
          </p:nvSpPr>
          <p:spPr>
            <a:xfrm>
              <a:off x="3517900" y="2030132"/>
              <a:ext cx="0" cy="1273737"/>
            </a:xfrm>
            <a:prstGeom prst="line">
              <a:avLst/>
            </a:prstGeom>
            <a:ln cap="rnd" w="88900">
              <a:solidFill>
                <a:srgbClr val="06B6D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5" id="45"/>
            <p:cNvSpPr/>
            <p:nvPr/>
          </p:nvSpPr>
          <p:spPr>
            <a:xfrm>
              <a:off x="3759200" y="1247565"/>
              <a:ext cx="0" cy="2838870"/>
            </a:xfrm>
            <a:prstGeom prst="line">
              <a:avLst/>
            </a:prstGeom>
            <a:ln cap="rnd" w="88900">
              <a:solidFill>
                <a:srgbClr val="06B6D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6" id="46"/>
            <p:cNvSpPr/>
            <p:nvPr/>
          </p:nvSpPr>
          <p:spPr>
            <a:xfrm>
              <a:off x="4000500" y="1124472"/>
              <a:ext cx="0" cy="3085056"/>
            </a:xfrm>
            <a:prstGeom prst="line">
              <a:avLst/>
            </a:prstGeom>
            <a:ln cap="rnd" w="88900">
              <a:solidFill>
                <a:srgbClr val="EF44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7" id="47"/>
            <p:cNvSpPr/>
            <p:nvPr/>
          </p:nvSpPr>
          <p:spPr>
            <a:xfrm>
              <a:off x="4241800" y="1726908"/>
              <a:ext cx="0" cy="1880185"/>
            </a:xfrm>
            <a:prstGeom prst="line">
              <a:avLst/>
            </a:prstGeom>
            <a:ln cap="rnd" w="88900">
              <a:solidFill>
                <a:srgbClr val="06B6D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8" id="48"/>
            <p:cNvSpPr/>
            <p:nvPr/>
          </p:nvSpPr>
          <p:spPr>
            <a:xfrm>
              <a:off x="4483100" y="2221409"/>
              <a:ext cx="0" cy="891182"/>
            </a:xfrm>
            <a:prstGeom prst="line">
              <a:avLst/>
            </a:prstGeom>
            <a:ln cap="rnd" w="88900">
              <a:solidFill>
                <a:srgbClr val="06B6D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9" id="49"/>
            <p:cNvSpPr/>
            <p:nvPr/>
          </p:nvSpPr>
          <p:spPr>
            <a:xfrm>
              <a:off x="4724400" y="1353613"/>
              <a:ext cx="0" cy="2626774"/>
            </a:xfrm>
            <a:prstGeom prst="line">
              <a:avLst/>
            </a:prstGeom>
            <a:ln cap="rnd" w="88900">
              <a:solidFill>
                <a:srgbClr val="06B6D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0" id="50"/>
            <p:cNvSpPr/>
            <p:nvPr/>
          </p:nvSpPr>
          <p:spPr>
            <a:xfrm>
              <a:off x="4965700" y="1088383"/>
              <a:ext cx="0" cy="3157233"/>
            </a:xfrm>
            <a:prstGeom prst="line">
              <a:avLst/>
            </a:prstGeom>
            <a:ln cap="rnd" w="88900">
              <a:solidFill>
                <a:srgbClr val="06B6D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1" id="51"/>
            <p:cNvSpPr/>
            <p:nvPr/>
          </p:nvSpPr>
          <p:spPr>
            <a:xfrm>
              <a:off x="5207000" y="1568048"/>
              <a:ext cx="0" cy="2197904"/>
            </a:xfrm>
            <a:prstGeom prst="line">
              <a:avLst/>
            </a:prstGeom>
            <a:ln cap="rnd" w="88900">
              <a:solidFill>
                <a:srgbClr val="EF44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2" id="52"/>
            <p:cNvSpPr/>
            <p:nvPr/>
          </p:nvSpPr>
          <p:spPr>
            <a:xfrm>
              <a:off x="5448300" y="2417792"/>
              <a:ext cx="0" cy="498416"/>
            </a:xfrm>
            <a:prstGeom prst="line">
              <a:avLst/>
            </a:prstGeom>
            <a:ln cap="rnd" w="88900">
              <a:solidFill>
                <a:srgbClr val="06B6D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3" id="53"/>
            <p:cNvSpPr/>
            <p:nvPr/>
          </p:nvSpPr>
          <p:spPr>
            <a:xfrm>
              <a:off x="5689600" y="1482136"/>
              <a:ext cx="0" cy="2369728"/>
            </a:xfrm>
            <a:prstGeom prst="line">
              <a:avLst/>
            </a:prstGeom>
            <a:ln cap="rnd" w="88900">
              <a:solidFill>
                <a:srgbClr val="06B6D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4" id="54"/>
            <p:cNvSpPr/>
            <p:nvPr/>
          </p:nvSpPr>
          <p:spPr>
            <a:xfrm>
              <a:off x="5930900" y="1080078"/>
              <a:ext cx="0" cy="3173845"/>
            </a:xfrm>
            <a:prstGeom prst="line">
              <a:avLst/>
            </a:prstGeom>
            <a:ln cap="rnd" w="88900">
              <a:solidFill>
                <a:srgbClr val="06B6D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5" id="55"/>
            <p:cNvSpPr/>
            <p:nvPr/>
          </p:nvSpPr>
          <p:spPr>
            <a:xfrm>
              <a:off x="6172200" y="1427371"/>
              <a:ext cx="0" cy="2479258"/>
            </a:xfrm>
            <a:prstGeom prst="line">
              <a:avLst/>
            </a:prstGeom>
            <a:ln cap="rnd" w="88900">
              <a:solidFill>
                <a:srgbClr val="06B6D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6" id="56"/>
            <p:cNvSpPr/>
            <p:nvPr/>
          </p:nvSpPr>
          <p:spPr>
            <a:xfrm>
              <a:off x="6413500" y="2337650"/>
              <a:ext cx="0" cy="658700"/>
            </a:xfrm>
            <a:prstGeom prst="line">
              <a:avLst/>
            </a:prstGeom>
            <a:ln cap="rnd" w="88900">
              <a:solidFill>
                <a:srgbClr val="EF44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7" id="57"/>
            <p:cNvSpPr/>
            <p:nvPr/>
          </p:nvSpPr>
          <p:spPr>
            <a:xfrm>
              <a:off x="6654800" y="1630561"/>
              <a:ext cx="0" cy="2072878"/>
            </a:xfrm>
            <a:prstGeom prst="line">
              <a:avLst/>
            </a:prstGeom>
            <a:ln cap="rnd" w="88900">
              <a:solidFill>
                <a:srgbClr val="06B6D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8" id="58"/>
            <p:cNvSpPr/>
            <p:nvPr/>
          </p:nvSpPr>
          <p:spPr>
            <a:xfrm>
              <a:off x="6896100" y="1099721"/>
              <a:ext cx="0" cy="3134557"/>
            </a:xfrm>
            <a:prstGeom prst="line">
              <a:avLst/>
            </a:prstGeom>
            <a:ln cap="rnd" w="88900">
              <a:solidFill>
                <a:srgbClr val="06B6D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9" id="59"/>
            <p:cNvSpPr/>
            <p:nvPr/>
          </p:nvSpPr>
          <p:spPr>
            <a:xfrm>
              <a:off x="7137400" y="1307692"/>
              <a:ext cx="0" cy="2718616"/>
            </a:xfrm>
            <a:prstGeom prst="line">
              <a:avLst/>
            </a:prstGeom>
            <a:ln cap="rnd" w="88900">
              <a:solidFill>
                <a:srgbClr val="06B6D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0" id="60"/>
            <p:cNvSpPr/>
            <p:nvPr/>
          </p:nvSpPr>
          <p:spPr>
            <a:xfrm>
              <a:off x="7378700" y="2142871"/>
              <a:ext cx="0" cy="1048258"/>
            </a:xfrm>
            <a:prstGeom prst="line">
              <a:avLst/>
            </a:prstGeom>
            <a:ln cap="rnd" w="88900">
              <a:solidFill>
                <a:srgbClr val="06B6D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1" id="61"/>
            <p:cNvSpPr/>
            <p:nvPr/>
          </p:nvSpPr>
          <p:spPr>
            <a:xfrm>
              <a:off x="7620000" y="1795917"/>
              <a:ext cx="0" cy="1742166"/>
            </a:xfrm>
            <a:prstGeom prst="line">
              <a:avLst/>
            </a:prstGeom>
            <a:ln cap="rnd" w="88900">
              <a:solidFill>
                <a:srgbClr val="EF44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2" id="62"/>
            <p:cNvSpPr/>
            <p:nvPr/>
          </p:nvSpPr>
          <p:spPr>
            <a:xfrm>
              <a:off x="7861300" y="1146921"/>
              <a:ext cx="0" cy="3040157"/>
            </a:xfrm>
            <a:prstGeom prst="line">
              <a:avLst/>
            </a:prstGeom>
            <a:ln cap="rnd" w="88900">
              <a:solidFill>
                <a:srgbClr val="06B6D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3" id="63"/>
            <p:cNvSpPr/>
            <p:nvPr/>
          </p:nvSpPr>
          <p:spPr>
            <a:xfrm>
              <a:off x="8102600" y="1211407"/>
              <a:ext cx="0" cy="2911186"/>
            </a:xfrm>
            <a:prstGeom prst="line">
              <a:avLst/>
            </a:prstGeom>
            <a:ln cap="rnd" w="88900">
              <a:solidFill>
                <a:srgbClr val="06B6D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4" id="64"/>
            <p:cNvSpPr/>
            <p:nvPr/>
          </p:nvSpPr>
          <p:spPr>
            <a:xfrm>
              <a:off x="8343900" y="1954770"/>
              <a:ext cx="0" cy="1424461"/>
            </a:xfrm>
            <a:prstGeom prst="line">
              <a:avLst/>
            </a:prstGeom>
            <a:ln cap="rnd" w="88900">
              <a:solidFill>
                <a:srgbClr val="06B6D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5" id="65"/>
            <p:cNvSpPr/>
            <p:nvPr/>
          </p:nvSpPr>
          <p:spPr>
            <a:xfrm>
              <a:off x="8585200" y="1974895"/>
              <a:ext cx="0" cy="1384209"/>
            </a:xfrm>
            <a:prstGeom prst="line">
              <a:avLst/>
            </a:prstGeom>
            <a:ln cap="rnd" w="88900">
              <a:solidFill>
                <a:srgbClr val="06B6D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6" id="66"/>
            <p:cNvSpPr/>
            <p:nvPr/>
          </p:nvSpPr>
          <p:spPr>
            <a:xfrm>
              <a:off x="8826500" y="1220733"/>
              <a:ext cx="0" cy="2892534"/>
            </a:xfrm>
            <a:prstGeom prst="line">
              <a:avLst/>
            </a:prstGeom>
            <a:ln cap="rnd" w="88900">
              <a:solidFill>
                <a:srgbClr val="EF44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7" id="67"/>
            <p:cNvSpPr/>
            <p:nvPr/>
          </p:nvSpPr>
          <p:spPr>
            <a:xfrm>
              <a:off x="9067800" y="1140443"/>
              <a:ext cx="0" cy="3053114"/>
            </a:xfrm>
            <a:prstGeom prst="line">
              <a:avLst/>
            </a:prstGeom>
            <a:ln cap="rnd" w="88900">
              <a:solidFill>
                <a:srgbClr val="06B6D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8" id="68"/>
            <p:cNvSpPr/>
            <p:nvPr/>
          </p:nvSpPr>
          <p:spPr>
            <a:xfrm>
              <a:off x="9309100" y="1777111"/>
              <a:ext cx="0" cy="1779778"/>
            </a:xfrm>
            <a:prstGeom prst="line">
              <a:avLst/>
            </a:prstGeom>
            <a:ln cap="rnd" w="88900">
              <a:solidFill>
                <a:srgbClr val="06B6D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69" id="69"/>
            <p:cNvSpPr txBox="true"/>
            <p:nvPr/>
          </p:nvSpPr>
          <p:spPr>
            <a:xfrm rot="0">
              <a:off x="889000" y="5540375"/>
              <a:ext cx="8636000" cy="12211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75"/>
                </a:lnSpc>
              </a:pPr>
              <a:r>
                <a:rPr lang="en-US" sz="1650">
                  <a:solidFill>
                    <a:srgbClr val="F8FAFC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AUDIO / VOICE NOTE</a:t>
              </a:r>
            </a:p>
            <a:p>
              <a:pPr algn="l">
                <a:lnSpc>
                  <a:spcPts val="2475"/>
                </a:lnSpc>
              </a:pPr>
              <a:r>
                <a:rPr lang="en-US" sz="1650">
                  <a:solidFill>
                    <a:srgbClr val="F8FAFC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FAKE 91% CONFIDENCE</a:t>
              </a:r>
            </a:p>
            <a:p>
              <a:pPr algn="l">
                <a:lnSpc>
                  <a:spcPts val="2475"/>
                </a:lnSpc>
              </a:pPr>
              <a:r>
                <a:rPr lang="en-US" sz="1650">
                  <a:solidFill>
                    <a:srgbClr val="F8FAFC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Wav2Vec2: vocoder phase artifacts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668000" y="523875"/>
            <a:ext cx="6858000" cy="9001125"/>
            <a:chOff x="0" y="0"/>
            <a:chExt cx="9144000" cy="12001500"/>
          </a:xfrm>
        </p:grpSpPr>
        <p:sp>
          <p:nvSpPr>
            <p:cNvPr name="AutoShape 3" id="3"/>
            <p:cNvSpPr/>
            <p:nvPr/>
          </p:nvSpPr>
          <p:spPr>
            <a:xfrm>
              <a:off x="0" y="444500"/>
              <a:ext cx="9144000" cy="0"/>
            </a:xfrm>
            <a:prstGeom prst="line">
              <a:avLst/>
            </a:prstGeom>
            <a:ln cap="flat" w="254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" id="4"/>
            <p:cNvSpPr/>
            <p:nvPr/>
          </p:nvSpPr>
          <p:spPr>
            <a:xfrm>
              <a:off x="889000" y="0"/>
              <a:ext cx="0" cy="12001500"/>
            </a:xfrm>
            <a:prstGeom prst="line">
              <a:avLst/>
            </a:prstGeom>
            <a:ln cap="flat" w="127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" id="5"/>
            <p:cNvSpPr/>
            <p:nvPr/>
          </p:nvSpPr>
          <p:spPr>
            <a:xfrm>
              <a:off x="889000" y="2286000"/>
              <a:ext cx="8255000" cy="0"/>
            </a:xfrm>
            <a:prstGeom prst="line">
              <a:avLst/>
            </a:prstGeom>
            <a:ln cap="flat" w="254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" id="6"/>
            <p:cNvSpPr/>
            <p:nvPr/>
          </p:nvSpPr>
          <p:spPr>
            <a:xfrm>
              <a:off x="2413000" y="0"/>
              <a:ext cx="0" cy="12001500"/>
            </a:xfrm>
            <a:prstGeom prst="line">
              <a:avLst/>
            </a:prstGeom>
            <a:ln cap="flat" w="127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" id="7"/>
            <p:cNvSpPr/>
            <p:nvPr/>
          </p:nvSpPr>
          <p:spPr>
            <a:xfrm>
              <a:off x="1778000" y="4127500"/>
              <a:ext cx="7366000" cy="0"/>
            </a:xfrm>
            <a:prstGeom prst="line">
              <a:avLst/>
            </a:prstGeom>
            <a:ln cap="flat" w="254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" id="8"/>
            <p:cNvSpPr/>
            <p:nvPr/>
          </p:nvSpPr>
          <p:spPr>
            <a:xfrm>
              <a:off x="3937000" y="0"/>
              <a:ext cx="0" cy="12001500"/>
            </a:xfrm>
            <a:prstGeom prst="line">
              <a:avLst/>
            </a:prstGeom>
            <a:ln cap="flat" w="127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" id="9"/>
            <p:cNvSpPr/>
            <p:nvPr/>
          </p:nvSpPr>
          <p:spPr>
            <a:xfrm>
              <a:off x="2667000" y="5969000"/>
              <a:ext cx="6477000" cy="0"/>
            </a:xfrm>
            <a:prstGeom prst="line">
              <a:avLst/>
            </a:prstGeom>
            <a:ln cap="flat" w="254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0" id="10"/>
            <p:cNvSpPr/>
            <p:nvPr/>
          </p:nvSpPr>
          <p:spPr>
            <a:xfrm>
              <a:off x="5461000" y="0"/>
              <a:ext cx="0" cy="12001500"/>
            </a:xfrm>
            <a:prstGeom prst="line">
              <a:avLst/>
            </a:prstGeom>
            <a:ln cap="flat" w="127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1" id="11"/>
            <p:cNvSpPr/>
            <p:nvPr/>
          </p:nvSpPr>
          <p:spPr>
            <a:xfrm>
              <a:off x="3556000" y="7810500"/>
              <a:ext cx="5588000" cy="0"/>
            </a:xfrm>
            <a:prstGeom prst="line">
              <a:avLst/>
            </a:prstGeom>
            <a:ln cap="flat" w="254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2" id="12"/>
            <p:cNvSpPr/>
            <p:nvPr/>
          </p:nvSpPr>
          <p:spPr>
            <a:xfrm>
              <a:off x="6985000" y="0"/>
              <a:ext cx="0" cy="12001500"/>
            </a:xfrm>
            <a:prstGeom prst="line">
              <a:avLst/>
            </a:prstGeom>
            <a:ln cap="flat" w="127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3" id="13"/>
            <p:cNvSpPr/>
            <p:nvPr/>
          </p:nvSpPr>
          <p:spPr>
            <a:xfrm>
              <a:off x="4445000" y="9652000"/>
              <a:ext cx="4699000" cy="0"/>
            </a:xfrm>
            <a:prstGeom prst="line">
              <a:avLst/>
            </a:prstGeom>
            <a:ln cap="flat" w="254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4" id="14"/>
            <p:cNvSpPr/>
            <p:nvPr/>
          </p:nvSpPr>
          <p:spPr>
            <a:xfrm>
              <a:off x="8509000" y="0"/>
              <a:ext cx="0" cy="12001500"/>
            </a:xfrm>
            <a:prstGeom prst="line">
              <a:avLst/>
            </a:prstGeom>
            <a:ln cap="flat" w="127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914400" y="609600"/>
            <a:ext cx="16459200" cy="790575"/>
            <a:chOff x="0" y="0"/>
            <a:chExt cx="21945600" cy="1054100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-38100"/>
              <a:ext cx="21945600" cy="9138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98"/>
                </a:lnSpc>
              </a:pPr>
              <a:r>
                <a:rPr lang="en-US" sz="4350" b="true">
                  <a:solidFill>
                    <a:srgbClr val="F59E0B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Honest Limitations — Probabilistic, Not Absolute</a:t>
              </a:r>
            </a:p>
          </p:txBody>
        </p:sp>
        <p:grpSp>
          <p:nvGrpSpPr>
            <p:cNvPr name="Group 17" id="17"/>
            <p:cNvGrpSpPr/>
            <p:nvPr/>
          </p:nvGrpSpPr>
          <p:grpSpPr>
            <a:xfrm rot="0">
              <a:off x="0" y="990600"/>
              <a:ext cx="1168400" cy="63500"/>
              <a:chOff x="0" y="0"/>
              <a:chExt cx="1168400" cy="635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168400" cy="63500"/>
              </a:xfrm>
              <a:custGeom>
                <a:avLst/>
                <a:gdLst/>
                <a:ahLst/>
                <a:cxnLst/>
                <a:rect r="r" b="b" t="t" l="l"/>
                <a:pathLst>
                  <a:path h="63500" w="1168400">
                    <a:moveTo>
                      <a:pt x="0" y="0"/>
                    </a:moveTo>
                    <a:lnTo>
                      <a:pt x="1168400" y="0"/>
                    </a:lnTo>
                    <a:lnTo>
                      <a:pt x="1168400" y="63500"/>
                    </a:lnTo>
                    <a:lnTo>
                      <a:pt x="0" y="63500"/>
                    </a:lnTo>
                    <a:close/>
                  </a:path>
                </a:pathLst>
              </a:custGeom>
              <a:solidFill>
                <a:srgbClr val="F59E0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1168400" cy="101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</p:grpSp>
      <p:sp>
        <p:nvSpPr>
          <p:cNvPr name="TextBox 20" id="20"/>
          <p:cNvSpPr txBox="true"/>
          <p:nvPr/>
        </p:nvSpPr>
        <p:spPr>
          <a:xfrm rot="0">
            <a:off x="914400" y="9667875"/>
            <a:ext cx="4762500" cy="273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sz="1650">
                <a:solidFill>
                  <a:srgbClr val="94A3B8"/>
                </a:solidFill>
                <a:latin typeface="IBM Plex Mono"/>
                <a:ea typeface="IBM Plex Mono"/>
                <a:cs typeface="IBM Plex Mono"/>
                <a:sym typeface="IBM Plex Mono"/>
              </a:rPr>
              <a:t>FORENSICAI / 13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14400" y="2190750"/>
            <a:ext cx="4953000" cy="2286000"/>
            <a:chOff x="0" y="0"/>
            <a:chExt cx="6604000" cy="3048000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6604000" cy="3048000"/>
              <a:chOff x="0" y="0"/>
              <a:chExt cx="6604000" cy="30480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6604000" cy="3048000"/>
              </a:xfrm>
              <a:custGeom>
                <a:avLst/>
                <a:gdLst/>
                <a:ahLst/>
                <a:cxnLst/>
                <a:rect r="r" b="b" t="t" l="l"/>
                <a:pathLst>
                  <a:path h="3048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048000"/>
                    </a:lnTo>
                    <a:lnTo>
                      <a:pt x="0" y="3048000"/>
                    </a:lnTo>
                    <a:close/>
                  </a:path>
                </a:pathLst>
              </a:custGeom>
              <a:solidFill>
                <a:srgbClr val="3A2A12"/>
              </a:solidFill>
              <a:ln w="19050" cap="sq">
                <a:solidFill>
                  <a:srgbClr val="F59E0B"/>
                </a:solidFill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6604000" cy="308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431800" y="352425"/>
              <a:ext cx="5715000" cy="10915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F8FAFC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01</a:t>
              </a:r>
            </a:p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F8FAFC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No custom foundational model</a:t>
              </a:r>
            </a:p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F8FAFC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Public checkpoints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381750" y="2190750"/>
            <a:ext cx="4953000" cy="2286000"/>
            <a:chOff x="0" y="0"/>
            <a:chExt cx="6604000" cy="3048000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6604000" cy="3048000"/>
              <a:chOff x="0" y="0"/>
              <a:chExt cx="6604000" cy="30480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6604000" cy="3048000"/>
              </a:xfrm>
              <a:custGeom>
                <a:avLst/>
                <a:gdLst/>
                <a:ahLst/>
                <a:cxnLst/>
                <a:rect r="r" b="b" t="t" l="l"/>
                <a:pathLst>
                  <a:path h="3048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048000"/>
                    </a:lnTo>
                    <a:lnTo>
                      <a:pt x="0" y="3048000"/>
                    </a:lnTo>
                    <a:close/>
                  </a:path>
                </a:pathLst>
              </a:custGeom>
              <a:solidFill>
                <a:srgbClr val="3A2A12"/>
              </a:solidFill>
              <a:ln w="19050" cap="sq">
                <a:solidFill>
                  <a:srgbClr val="F59E0B"/>
                </a:solidFill>
                <a:prstDash val="solid"/>
                <a:miter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38100"/>
                <a:ext cx="6604000" cy="308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431800" y="352425"/>
              <a:ext cx="5715000" cy="10915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F8FAFC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02</a:t>
              </a:r>
            </a:p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F8FAFC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CPU inference</a:t>
              </a:r>
            </a:p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F8FAFC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60–120s per video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1849100" y="2190750"/>
            <a:ext cx="4953000" cy="2286000"/>
            <a:chOff x="0" y="0"/>
            <a:chExt cx="6604000" cy="3048000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0"/>
              <a:ext cx="6604000" cy="3048000"/>
              <a:chOff x="0" y="0"/>
              <a:chExt cx="6604000" cy="30480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6604000" cy="3048000"/>
              </a:xfrm>
              <a:custGeom>
                <a:avLst/>
                <a:gdLst/>
                <a:ahLst/>
                <a:cxnLst/>
                <a:rect r="r" b="b" t="t" l="l"/>
                <a:pathLst>
                  <a:path h="3048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048000"/>
                    </a:lnTo>
                    <a:lnTo>
                      <a:pt x="0" y="3048000"/>
                    </a:lnTo>
                    <a:close/>
                  </a:path>
                </a:pathLst>
              </a:custGeom>
              <a:solidFill>
                <a:srgbClr val="3A2A12"/>
              </a:solidFill>
              <a:ln w="19050" cap="sq">
                <a:solidFill>
                  <a:srgbClr val="F59E0B"/>
                </a:solidFill>
                <a:prstDash val="solid"/>
                <a:miter/>
              </a:ln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38100"/>
                <a:ext cx="6604000" cy="308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5" id="35"/>
            <p:cNvSpPr txBox="true"/>
            <p:nvPr/>
          </p:nvSpPr>
          <p:spPr>
            <a:xfrm rot="0">
              <a:off x="431800" y="352425"/>
              <a:ext cx="5715000" cy="10915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F8FAFC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03</a:t>
              </a:r>
            </a:p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F8FAFC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Single-user synchronous</a:t>
              </a:r>
            </a:p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F8FAFC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No task queue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14400" y="5048250"/>
            <a:ext cx="4953000" cy="2286000"/>
            <a:chOff x="0" y="0"/>
            <a:chExt cx="6604000" cy="3048000"/>
          </a:xfrm>
        </p:grpSpPr>
        <p:grpSp>
          <p:nvGrpSpPr>
            <p:cNvPr name="Group 37" id="37"/>
            <p:cNvGrpSpPr/>
            <p:nvPr/>
          </p:nvGrpSpPr>
          <p:grpSpPr>
            <a:xfrm rot="0">
              <a:off x="0" y="0"/>
              <a:ext cx="6604000" cy="3048000"/>
              <a:chOff x="0" y="0"/>
              <a:chExt cx="6604000" cy="304800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6604000" cy="3048000"/>
              </a:xfrm>
              <a:custGeom>
                <a:avLst/>
                <a:gdLst/>
                <a:ahLst/>
                <a:cxnLst/>
                <a:rect r="r" b="b" t="t" l="l"/>
                <a:pathLst>
                  <a:path h="3048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048000"/>
                    </a:lnTo>
                    <a:lnTo>
                      <a:pt x="0" y="3048000"/>
                    </a:lnTo>
                    <a:close/>
                  </a:path>
                </a:pathLst>
              </a:custGeom>
              <a:solidFill>
                <a:srgbClr val="3A2A12"/>
              </a:solidFill>
              <a:ln w="19050" cap="sq">
                <a:solidFill>
                  <a:srgbClr val="F59E0B"/>
                </a:solidFill>
                <a:prstDash val="solid"/>
                <a:miter/>
              </a:ln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38100"/>
                <a:ext cx="6604000" cy="308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0" id="40"/>
            <p:cNvSpPr txBox="true"/>
            <p:nvPr/>
          </p:nvSpPr>
          <p:spPr>
            <a:xfrm rot="0">
              <a:off x="431800" y="352425"/>
              <a:ext cx="5715000" cy="10915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F8FAFC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04</a:t>
              </a:r>
            </a:p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F8FAFC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30-frame sampling cap</a:t>
              </a:r>
            </a:p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F8FAFC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on video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6381750" y="5048250"/>
            <a:ext cx="4953000" cy="2286000"/>
            <a:chOff x="0" y="0"/>
            <a:chExt cx="6604000" cy="3048000"/>
          </a:xfrm>
        </p:grpSpPr>
        <p:grpSp>
          <p:nvGrpSpPr>
            <p:cNvPr name="Group 42" id="42"/>
            <p:cNvGrpSpPr/>
            <p:nvPr/>
          </p:nvGrpSpPr>
          <p:grpSpPr>
            <a:xfrm rot="0">
              <a:off x="0" y="0"/>
              <a:ext cx="6604000" cy="3048000"/>
              <a:chOff x="0" y="0"/>
              <a:chExt cx="6604000" cy="304800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6604000" cy="3048000"/>
              </a:xfrm>
              <a:custGeom>
                <a:avLst/>
                <a:gdLst/>
                <a:ahLst/>
                <a:cxnLst/>
                <a:rect r="r" b="b" t="t" l="l"/>
                <a:pathLst>
                  <a:path h="3048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048000"/>
                    </a:lnTo>
                    <a:lnTo>
                      <a:pt x="0" y="3048000"/>
                    </a:lnTo>
                    <a:close/>
                  </a:path>
                </a:pathLst>
              </a:custGeom>
              <a:solidFill>
                <a:srgbClr val="3A2A12"/>
              </a:solidFill>
              <a:ln w="19050" cap="sq">
                <a:solidFill>
                  <a:srgbClr val="F59E0B"/>
                </a:solidFill>
                <a:prstDash val="solid"/>
                <a:miter/>
              </a:ln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-38100"/>
                <a:ext cx="6604000" cy="308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5" id="45"/>
            <p:cNvSpPr txBox="true"/>
            <p:nvPr/>
          </p:nvSpPr>
          <p:spPr>
            <a:xfrm rot="0">
              <a:off x="431800" y="352425"/>
              <a:ext cx="5715000" cy="10915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F8FAFC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05</a:t>
              </a:r>
            </a:p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F8FAFC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No authentication</a:t>
              </a:r>
            </a:p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F8FAFC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or RBAC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1849100" y="5048250"/>
            <a:ext cx="4953000" cy="2286000"/>
            <a:chOff x="0" y="0"/>
            <a:chExt cx="6604000" cy="3048000"/>
          </a:xfrm>
        </p:grpSpPr>
        <p:grpSp>
          <p:nvGrpSpPr>
            <p:cNvPr name="Group 47" id="47"/>
            <p:cNvGrpSpPr/>
            <p:nvPr/>
          </p:nvGrpSpPr>
          <p:grpSpPr>
            <a:xfrm rot="0">
              <a:off x="0" y="0"/>
              <a:ext cx="6604000" cy="3048000"/>
              <a:chOff x="0" y="0"/>
              <a:chExt cx="6604000" cy="3048000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6604000" cy="3048000"/>
              </a:xfrm>
              <a:custGeom>
                <a:avLst/>
                <a:gdLst/>
                <a:ahLst/>
                <a:cxnLst/>
                <a:rect r="r" b="b" t="t" l="l"/>
                <a:pathLst>
                  <a:path h="3048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048000"/>
                    </a:lnTo>
                    <a:lnTo>
                      <a:pt x="0" y="3048000"/>
                    </a:lnTo>
                    <a:close/>
                  </a:path>
                </a:pathLst>
              </a:custGeom>
              <a:solidFill>
                <a:srgbClr val="3A2A12"/>
              </a:solidFill>
              <a:ln w="19050" cap="sq">
                <a:solidFill>
                  <a:srgbClr val="F59E0B"/>
                </a:solidFill>
                <a:prstDash val="solid"/>
                <a:miter/>
              </a:ln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0" y="-38100"/>
                <a:ext cx="6604000" cy="308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50" id="50"/>
            <p:cNvSpPr txBox="true"/>
            <p:nvPr/>
          </p:nvSpPr>
          <p:spPr>
            <a:xfrm rot="0">
              <a:off x="431800" y="352425"/>
              <a:ext cx="5715000" cy="10915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F8FAFC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06</a:t>
              </a:r>
            </a:p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F8FAFC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PDF is not</a:t>
              </a:r>
            </a:p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F8FAFC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digitally signed</a:t>
              </a: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2381250" y="8543925"/>
            <a:ext cx="13525500" cy="273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7"/>
              </a:lnSpc>
            </a:pPr>
            <a:r>
              <a:rPr lang="en-US" sz="1650">
                <a:solidFill>
                  <a:srgbClr val="F59E0B"/>
                </a:solidFill>
                <a:latin typeface="IBM Plex Mono"/>
                <a:ea typeface="IBM Plex Mono"/>
                <a:cs typeface="IBM Plex Mono"/>
                <a:sym typeface="IBM Plex Mono"/>
              </a:rPr>
              <a:t>AI RESULTS AUGMENT — NOT REPLACE — QUALIFIED FORENSIC EXAMINERS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668000" y="523875"/>
            <a:ext cx="6858000" cy="9001125"/>
            <a:chOff x="0" y="0"/>
            <a:chExt cx="9144000" cy="12001500"/>
          </a:xfrm>
        </p:grpSpPr>
        <p:sp>
          <p:nvSpPr>
            <p:cNvPr name="AutoShape 3" id="3"/>
            <p:cNvSpPr/>
            <p:nvPr/>
          </p:nvSpPr>
          <p:spPr>
            <a:xfrm>
              <a:off x="0" y="444500"/>
              <a:ext cx="9144000" cy="0"/>
            </a:xfrm>
            <a:prstGeom prst="line">
              <a:avLst/>
            </a:prstGeom>
            <a:ln cap="flat" w="254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" id="4"/>
            <p:cNvSpPr/>
            <p:nvPr/>
          </p:nvSpPr>
          <p:spPr>
            <a:xfrm>
              <a:off x="889000" y="0"/>
              <a:ext cx="0" cy="12001500"/>
            </a:xfrm>
            <a:prstGeom prst="line">
              <a:avLst/>
            </a:prstGeom>
            <a:ln cap="flat" w="127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" id="5"/>
            <p:cNvSpPr/>
            <p:nvPr/>
          </p:nvSpPr>
          <p:spPr>
            <a:xfrm>
              <a:off x="889000" y="2286000"/>
              <a:ext cx="8255000" cy="0"/>
            </a:xfrm>
            <a:prstGeom prst="line">
              <a:avLst/>
            </a:prstGeom>
            <a:ln cap="flat" w="254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" id="6"/>
            <p:cNvSpPr/>
            <p:nvPr/>
          </p:nvSpPr>
          <p:spPr>
            <a:xfrm>
              <a:off x="2413000" y="0"/>
              <a:ext cx="0" cy="12001500"/>
            </a:xfrm>
            <a:prstGeom prst="line">
              <a:avLst/>
            </a:prstGeom>
            <a:ln cap="flat" w="127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" id="7"/>
            <p:cNvSpPr/>
            <p:nvPr/>
          </p:nvSpPr>
          <p:spPr>
            <a:xfrm>
              <a:off x="1778000" y="4127500"/>
              <a:ext cx="7366000" cy="0"/>
            </a:xfrm>
            <a:prstGeom prst="line">
              <a:avLst/>
            </a:prstGeom>
            <a:ln cap="flat" w="254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" id="8"/>
            <p:cNvSpPr/>
            <p:nvPr/>
          </p:nvSpPr>
          <p:spPr>
            <a:xfrm>
              <a:off x="3937000" y="0"/>
              <a:ext cx="0" cy="12001500"/>
            </a:xfrm>
            <a:prstGeom prst="line">
              <a:avLst/>
            </a:prstGeom>
            <a:ln cap="flat" w="127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" id="9"/>
            <p:cNvSpPr/>
            <p:nvPr/>
          </p:nvSpPr>
          <p:spPr>
            <a:xfrm>
              <a:off x="2667000" y="5969000"/>
              <a:ext cx="6477000" cy="0"/>
            </a:xfrm>
            <a:prstGeom prst="line">
              <a:avLst/>
            </a:prstGeom>
            <a:ln cap="flat" w="254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0" id="10"/>
            <p:cNvSpPr/>
            <p:nvPr/>
          </p:nvSpPr>
          <p:spPr>
            <a:xfrm>
              <a:off x="5461000" y="0"/>
              <a:ext cx="0" cy="12001500"/>
            </a:xfrm>
            <a:prstGeom prst="line">
              <a:avLst/>
            </a:prstGeom>
            <a:ln cap="flat" w="127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1" id="11"/>
            <p:cNvSpPr/>
            <p:nvPr/>
          </p:nvSpPr>
          <p:spPr>
            <a:xfrm>
              <a:off x="3556000" y="7810500"/>
              <a:ext cx="5588000" cy="0"/>
            </a:xfrm>
            <a:prstGeom prst="line">
              <a:avLst/>
            </a:prstGeom>
            <a:ln cap="flat" w="254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2" id="12"/>
            <p:cNvSpPr/>
            <p:nvPr/>
          </p:nvSpPr>
          <p:spPr>
            <a:xfrm>
              <a:off x="6985000" y="0"/>
              <a:ext cx="0" cy="12001500"/>
            </a:xfrm>
            <a:prstGeom prst="line">
              <a:avLst/>
            </a:prstGeom>
            <a:ln cap="flat" w="127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3" id="13"/>
            <p:cNvSpPr/>
            <p:nvPr/>
          </p:nvSpPr>
          <p:spPr>
            <a:xfrm>
              <a:off x="4445000" y="9652000"/>
              <a:ext cx="4699000" cy="0"/>
            </a:xfrm>
            <a:prstGeom prst="line">
              <a:avLst/>
            </a:prstGeom>
            <a:ln cap="flat" w="254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4" id="14"/>
            <p:cNvSpPr/>
            <p:nvPr/>
          </p:nvSpPr>
          <p:spPr>
            <a:xfrm>
              <a:off x="8509000" y="0"/>
              <a:ext cx="0" cy="12001500"/>
            </a:xfrm>
            <a:prstGeom prst="line">
              <a:avLst/>
            </a:prstGeom>
            <a:ln cap="flat" w="127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914400" y="609600"/>
            <a:ext cx="16459200" cy="790575"/>
            <a:chOff x="0" y="0"/>
            <a:chExt cx="21945600" cy="1054100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-38100"/>
              <a:ext cx="21945600" cy="9138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98"/>
                </a:lnSpc>
              </a:pPr>
              <a:r>
                <a:rPr lang="en-US" sz="4350" b="true">
                  <a:solidFill>
                    <a:srgbClr val="06B6D4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What Comes Next</a:t>
              </a:r>
            </a:p>
          </p:txBody>
        </p:sp>
        <p:grpSp>
          <p:nvGrpSpPr>
            <p:cNvPr name="Group 17" id="17"/>
            <p:cNvGrpSpPr/>
            <p:nvPr/>
          </p:nvGrpSpPr>
          <p:grpSpPr>
            <a:xfrm rot="0">
              <a:off x="0" y="990600"/>
              <a:ext cx="1168400" cy="63500"/>
              <a:chOff x="0" y="0"/>
              <a:chExt cx="1168400" cy="635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168400" cy="63500"/>
              </a:xfrm>
              <a:custGeom>
                <a:avLst/>
                <a:gdLst/>
                <a:ahLst/>
                <a:cxnLst/>
                <a:rect r="r" b="b" t="t" l="l"/>
                <a:pathLst>
                  <a:path h="63500" w="1168400">
                    <a:moveTo>
                      <a:pt x="0" y="0"/>
                    </a:moveTo>
                    <a:lnTo>
                      <a:pt x="1168400" y="0"/>
                    </a:lnTo>
                    <a:lnTo>
                      <a:pt x="1168400" y="63500"/>
                    </a:lnTo>
                    <a:lnTo>
                      <a:pt x="0" y="63500"/>
                    </a:lnTo>
                    <a:close/>
                  </a:path>
                </a:pathLst>
              </a:custGeom>
              <a:solidFill>
                <a:srgbClr val="06B6D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1168400" cy="101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</p:grpSp>
      <p:sp>
        <p:nvSpPr>
          <p:cNvPr name="TextBox 20" id="20"/>
          <p:cNvSpPr txBox="true"/>
          <p:nvPr/>
        </p:nvSpPr>
        <p:spPr>
          <a:xfrm rot="0">
            <a:off x="914400" y="9667875"/>
            <a:ext cx="4762500" cy="273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sz="1650">
                <a:solidFill>
                  <a:srgbClr val="94A3B8"/>
                </a:solidFill>
                <a:latin typeface="IBM Plex Mono"/>
                <a:ea typeface="IBM Plex Mono"/>
                <a:cs typeface="IBM Plex Mono"/>
                <a:sym typeface="IBM Plex Mono"/>
              </a:rPr>
              <a:t>FORENSICAI / 14</a:t>
            </a:r>
          </a:p>
        </p:txBody>
      </p:sp>
      <p:sp>
        <p:nvSpPr>
          <p:cNvPr name="AutoShape 21" id="21"/>
          <p:cNvSpPr/>
          <p:nvPr/>
        </p:nvSpPr>
        <p:spPr>
          <a:xfrm>
            <a:off x="1714500" y="4762500"/>
            <a:ext cx="14859000" cy="0"/>
          </a:xfrm>
          <a:prstGeom prst="line">
            <a:avLst/>
          </a:prstGeom>
          <a:ln cap="rnd" w="47625">
            <a:solidFill>
              <a:srgbClr val="06B6D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2" id="22"/>
          <p:cNvGrpSpPr/>
          <p:nvPr/>
        </p:nvGrpSpPr>
        <p:grpSpPr>
          <a:xfrm rot="0">
            <a:off x="1428750" y="3381375"/>
            <a:ext cx="2667000" cy="2796064"/>
            <a:chOff x="0" y="0"/>
            <a:chExt cx="3556000" cy="3728085"/>
          </a:xfrm>
        </p:grpSpPr>
        <p:sp>
          <p:nvSpPr>
            <p:cNvPr name="TextBox 23" id="23"/>
            <p:cNvSpPr txBox="true"/>
            <p:nvPr/>
          </p:nvSpPr>
          <p:spPr>
            <a:xfrm rot="0">
              <a:off x="0" y="-28575"/>
              <a:ext cx="3556000" cy="3549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27"/>
                </a:lnSpc>
              </a:pPr>
              <a:r>
                <a:rPr lang="en-US" sz="1650">
                  <a:solidFill>
                    <a:srgbClr val="67E8F9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v1.1</a:t>
              </a:r>
            </a:p>
          </p:txBody>
        </p:sp>
        <p:grpSp>
          <p:nvGrpSpPr>
            <p:cNvPr name="Group 24" id="24"/>
            <p:cNvGrpSpPr/>
            <p:nvPr/>
          </p:nvGrpSpPr>
          <p:grpSpPr>
            <a:xfrm rot="0">
              <a:off x="1524000" y="1460500"/>
              <a:ext cx="762000" cy="762000"/>
              <a:chOff x="0" y="0"/>
              <a:chExt cx="762000" cy="7620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762000" cy="762000"/>
              </a:xfrm>
              <a:custGeom>
                <a:avLst/>
                <a:gdLst/>
                <a:ahLst/>
                <a:cxnLst/>
                <a:rect r="r" b="b" t="t" l="l"/>
                <a:pathLst>
                  <a:path h="762000" w="762000">
                    <a:moveTo>
                      <a:pt x="381000" y="0"/>
                    </a:moveTo>
                    <a:cubicBezTo>
                      <a:pt x="591420" y="0"/>
                      <a:pt x="762000" y="170580"/>
                      <a:pt x="762000" y="381000"/>
                    </a:cubicBezTo>
                    <a:cubicBezTo>
                      <a:pt x="762000" y="591420"/>
                      <a:pt x="591420" y="762000"/>
                      <a:pt x="381000" y="762000"/>
                    </a:cubicBezTo>
                    <a:cubicBezTo>
                      <a:pt x="170580" y="762000"/>
                      <a:pt x="0" y="591420"/>
                      <a:pt x="0" y="381000"/>
                    </a:cubicBezTo>
                    <a:cubicBezTo>
                      <a:pt x="0" y="170580"/>
                      <a:pt x="170580" y="0"/>
                      <a:pt x="381000" y="0"/>
                    </a:cubicBezTo>
                    <a:close/>
                  </a:path>
                </a:pathLst>
              </a:custGeom>
              <a:solidFill>
                <a:srgbClr val="06B6D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38100"/>
                <a:ext cx="762000" cy="800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0" y="2965450"/>
              <a:ext cx="3556000" cy="7626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28"/>
                </a:lnSpc>
              </a:pPr>
              <a:r>
                <a:rPr lang="en-US" sz="1725">
                  <a:solidFill>
                    <a:srgbClr val="F8FAFC"/>
                  </a:solidFill>
                  <a:latin typeface="Open Sans"/>
                  <a:ea typeface="Open Sans"/>
                  <a:cs typeface="Open Sans"/>
                  <a:sym typeface="Open Sans"/>
                </a:rPr>
                <a:t>Celery / Redis task queue</a:t>
              </a:r>
            </a:p>
            <a:p>
              <a:pPr algn="ctr">
                <a:lnSpc>
                  <a:spcPts val="2328"/>
                </a:lnSpc>
              </a:pPr>
              <a:r>
                <a:rPr lang="en-US" sz="1725">
                  <a:solidFill>
                    <a:srgbClr val="F8FAFC"/>
                  </a:solidFill>
                  <a:latin typeface="Open Sans"/>
                  <a:ea typeface="Open Sans"/>
                  <a:cs typeface="Open Sans"/>
                  <a:sym typeface="Open Sans"/>
                </a:rPr>
                <a:t>Concurrent inference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5429250" y="3381375"/>
            <a:ext cx="2667000" cy="2831306"/>
            <a:chOff x="0" y="0"/>
            <a:chExt cx="3556000" cy="3775075"/>
          </a:xfrm>
        </p:grpSpPr>
        <p:sp>
          <p:nvSpPr>
            <p:cNvPr name="TextBox 29" id="29"/>
            <p:cNvSpPr txBox="true"/>
            <p:nvPr/>
          </p:nvSpPr>
          <p:spPr>
            <a:xfrm rot="0">
              <a:off x="0" y="-28575"/>
              <a:ext cx="3556000" cy="3549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27"/>
                </a:lnSpc>
              </a:pPr>
              <a:r>
                <a:rPr lang="en-US" sz="1650">
                  <a:solidFill>
                    <a:srgbClr val="67E8F9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v1.2</a:t>
              </a:r>
            </a:p>
          </p:txBody>
        </p:sp>
        <p:grpSp>
          <p:nvGrpSpPr>
            <p:cNvPr name="Group 30" id="30"/>
            <p:cNvGrpSpPr/>
            <p:nvPr/>
          </p:nvGrpSpPr>
          <p:grpSpPr>
            <a:xfrm rot="0">
              <a:off x="1524000" y="1460500"/>
              <a:ext cx="762000" cy="762000"/>
              <a:chOff x="0" y="0"/>
              <a:chExt cx="762000" cy="7620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762000" cy="762000"/>
              </a:xfrm>
              <a:custGeom>
                <a:avLst/>
                <a:gdLst/>
                <a:ahLst/>
                <a:cxnLst/>
                <a:rect r="r" b="b" t="t" l="l"/>
                <a:pathLst>
                  <a:path h="762000" w="762000">
                    <a:moveTo>
                      <a:pt x="381000" y="0"/>
                    </a:moveTo>
                    <a:cubicBezTo>
                      <a:pt x="591420" y="0"/>
                      <a:pt x="762000" y="170580"/>
                      <a:pt x="762000" y="381000"/>
                    </a:cubicBezTo>
                    <a:cubicBezTo>
                      <a:pt x="762000" y="591420"/>
                      <a:pt x="591420" y="762000"/>
                      <a:pt x="381000" y="762000"/>
                    </a:cubicBezTo>
                    <a:cubicBezTo>
                      <a:pt x="170580" y="762000"/>
                      <a:pt x="0" y="591420"/>
                      <a:pt x="0" y="381000"/>
                    </a:cubicBezTo>
                    <a:cubicBezTo>
                      <a:pt x="0" y="170580"/>
                      <a:pt x="170580" y="0"/>
                      <a:pt x="381000" y="0"/>
                    </a:cubicBezTo>
                    <a:close/>
                  </a:path>
                </a:pathLst>
              </a:custGeom>
              <a:solidFill>
                <a:srgbClr val="06B6D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38100"/>
                <a:ext cx="762000" cy="800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3" id="33"/>
            <p:cNvSpPr txBox="true"/>
            <p:nvPr/>
          </p:nvSpPr>
          <p:spPr>
            <a:xfrm rot="0">
              <a:off x="0" y="2955925"/>
              <a:ext cx="3556000" cy="819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31"/>
                </a:lnSpc>
              </a:pPr>
              <a:r>
                <a:rPr lang="en-US" sz="1875">
                  <a:solidFill>
                    <a:srgbClr val="F8FAFC"/>
                  </a:solidFill>
                  <a:latin typeface="Open Sans"/>
                  <a:ea typeface="Open Sans"/>
                  <a:cs typeface="Open Sans"/>
                  <a:sym typeface="Open Sans"/>
                </a:rPr>
                <a:t>Foundational model</a:t>
              </a:r>
            </a:p>
            <a:p>
              <a:pPr algn="ctr">
                <a:lnSpc>
                  <a:spcPts val="2531"/>
                </a:lnSpc>
              </a:pPr>
              <a:r>
                <a:rPr lang="en-US" sz="1875">
                  <a:solidFill>
                    <a:srgbClr val="F8FAFC"/>
                  </a:solidFill>
                  <a:latin typeface="Open Sans"/>
                  <a:ea typeface="Open Sans"/>
                  <a:cs typeface="Open Sans"/>
                  <a:sym typeface="Open Sans"/>
                </a:rPr>
                <a:t>1L+ Indian-context clips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429750" y="3381375"/>
            <a:ext cx="2667000" cy="2759392"/>
            <a:chOff x="0" y="0"/>
            <a:chExt cx="3556000" cy="3679190"/>
          </a:xfrm>
        </p:grpSpPr>
        <p:sp>
          <p:nvSpPr>
            <p:cNvPr name="TextBox 35" id="35"/>
            <p:cNvSpPr txBox="true"/>
            <p:nvPr/>
          </p:nvSpPr>
          <p:spPr>
            <a:xfrm rot="0">
              <a:off x="0" y="-28575"/>
              <a:ext cx="3556000" cy="3549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27"/>
                </a:lnSpc>
              </a:pPr>
              <a:r>
                <a:rPr lang="en-US" sz="1650">
                  <a:solidFill>
                    <a:srgbClr val="67E8F9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v2.0</a:t>
              </a:r>
            </a:p>
          </p:txBody>
        </p:sp>
        <p:grpSp>
          <p:nvGrpSpPr>
            <p:cNvPr name="Group 36" id="36"/>
            <p:cNvGrpSpPr/>
            <p:nvPr/>
          </p:nvGrpSpPr>
          <p:grpSpPr>
            <a:xfrm rot="0">
              <a:off x="1524000" y="1460500"/>
              <a:ext cx="762000" cy="762000"/>
              <a:chOff x="0" y="0"/>
              <a:chExt cx="762000" cy="7620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762000" cy="762000"/>
              </a:xfrm>
              <a:custGeom>
                <a:avLst/>
                <a:gdLst/>
                <a:ahLst/>
                <a:cxnLst/>
                <a:rect r="r" b="b" t="t" l="l"/>
                <a:pathLst>
                  <a:path h="762000" w="762000">
                    <a:moveTo>
                      <a:pt x="381000" y="0"/>
                    </a:moveTo>
                    <a:cubicBezTo>
                      <a:pt x="591420" y="0"/>
                      <a:pt x="762000" y="170580"/>
                      <a:pt x="762000" y="381000"/>
                    </a:cubicBezTo>
                    <a:cubicBezTo>
                      <a:pt x="762000" y="591420"/>
                      <a:pt x="591420" y="762000"/>
                      <a:pt x="381000" y="762000"/>
                    </a:cubicBezTo>
                    <a:cubicBezTo>
                      <a:pt x="170580" y="762000"/>
                      <a:pt x="0" y="591420"/>
                      <a:pt x="0" y="381000"/>
                    </a:cubicBezTo>
                    <a:cubicBezTo>
                      <a:pt x="0" y="170580"/>
                      <a:pt x="170580" y="0"/>
                      <a:pt x="381000" y="0"/>
                    </a:cubicBezTo>
                    <a:close/>
                  </a:path>
                </a:pathLst>
              </a:custGeom>
              <a:solidFill>
                <a:srgbClr val="06B6D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38100"/>
                <a:ext cx="762000" cy="800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9" id="39"/>
            <p:cNvSpPr txBox="true"/>
            <p:nvPr/>
          </p:nvSpPr>
          <p:spPr>
            <a:xfrm rot="0">
              <a:off x="0" y="2955925"/>
              <a:ext cx="3556000" cy="7232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27"/>
                </a:lnSpc>
              </a:pPr>
              <a:r>
                <a:rPr lang="en-US" sz="1650">
                  <a:solidFill>
                    <a:srgbClr val="F8FAFC"/>
                  </a:solidFill>
                  <a:latin typeface="Open Sans"/>
                  <a:ea typeface="Open Sans"/>
                  <a:cs typeface="Open Sans"/>
                  <a:sym typeface="Open Sans"/>
                </a:rPr>
                <a:t>RBAC + officer login</a:t>
              </a:r>
            </a:p>
            <a:p>
              <a:pPr algn="ctr">
                <a:lnSpc>
                  <a:spcPts val="2227"/>
                </a:lnSpc>
              </a:pPr>
              <a:r>
                <a:rPr lang="en-US" sz="1650">
                  <a:solidFill>
                    <a:srgbClr val="F8FAFC"/>
                  </a:solidFill>
                  <a:latin typeface="Open Sans"/>
                  <a:ea typeface="Open Sans"/>
                  <a:cs typeface="Open Sans"/>
                  <a:sym typeface="Open Sans"/>
                </a:rPr>
                <a:t>Case assignment workflow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3430250" y="3381375"/>
            <a:ext cx="2667000" cy="2831306"/>
            <a:chOff x="0" y="0"/>
            <a:chExt cx="3556000" cy="3775075"/>
          </a:xfrm>
        </p:grpSpPr>
        <p:sp>
          <p:nvSpPr>
            <p:cNvPr name="TextBox 41" id="41"/>
            <p:cNvSpPr txBox="true"/>
            <p:nvPr/>
          </p:nvSpPr>
          <p:spPr>
            <a:xfrm rot="0">
              <a:off x="0" y="-28575"/>
              <a:ext cx="3556000" cy="3549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27"/>
                </a:lnSpc>
              </a:pPr>
              <a:r>
                <a:rPr lang="en-US" sz="1650">
                  <a:solidFill>
                    <a:srgbClr val="67E8F9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v2.5</a:t>
              </a:r>
            </a:p>
          </p:txBody>
        </p:sp>
        <p:grpSp>
          <p:nvGrpSpPr>
            <p:cNvPr name="Group 42" id="42"/>
            <p:cNvGrpSpPr/>
            <p:nvPr/>
          </p:nvGrpSpPr>
          <p:grpSpPr>
            <a:xfrm rot="0">
              <a:off x="1524000" y="1460500"/>
              <a:ext cx="762000" cy="762000"/>
              <a:chOff x="0" y="0"/>
              <a:chExt cx="762000" cy="76200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762000" cy="762000"/>
              </a:xfrm>
              <a:custGeom>
                <a:avLst/>
                <a:gdLst/>
                <a:ahLst/>
                <a:cxnLst/>
                <a:rect r="r" b="b" t="t" l="l"/>
                <a:pathLst>
                  <a:path h="762000" w="762000">
                    <a:moveTo>
                      <a:pt x="381000" y="0"/>
                    </a:moveTo>
                    <a:cubicBezTo>
                      <a:pt x="591420" y="0"/>
                      <a:pt x="762000" y="170580"/>
                      <a:pt x="762000" y="381000"/>
                    </a:cubicBezTo>
                    <a:cubicBezTo>
                      <a:pt x="762000" y="591420"/>
                      <a:pt x="591420" y="762000"/>
                      <a:pt x="381000" y="762000"/>
                    </a:cubicBezTo>
                    <a:cubicBezTo>
                      <a:pt x="170580" y="762000"/>
                      <a:pt x="0" y="591420"/>
                      <a:pt x="0" y="381000"/>
                    </a:cubicBezTo>
                    <a:cubicBezTo>
                      <a:pt x="0" y="170580"/>
                      <a:pt x="170580" y="0"/>
                      <a:pt x="381000" y="0"/>
                    </a:cubicBezTo>
                    <a:close/>
                  </a:path>
                </a:pathLst>
              </a:custGeom>
              <a:solidFill>
                <a:srgbClr val="F59E0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-38100"/>
                <a:ext cx="762000" cy="800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5" id="45"/>
            <p:cNvSpPr txBox="true"/>
            <p:nvPr/>
          </p:nvSpPr>
          <p:spPr>
            <a:xfrm rot="0">
              <a:off x="0" y="2955925"/>
              <a:ext cx="3556000" cy="819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31"/>
                </a:lnSpc>
              </a:pPr>
              <a:r>
                <a:rPr lang="en-US" sz="1875">
                  <a:solidFill>
                    <a:srgbClr val="F8FAFC"/>
                  </a:solidFill>
                  <a:latin typeface="Open Sans"/>
                  <a:ea typeface="Open Sans"/>
                  <a:cs typeface="Open Sans"/>
                  <a:sym typeface="Open Sans"/>
                </a:rPr>
                <a:t>PKCS#7 signing + QR</a:t>
              </a:r>
            </a:p>
            <a:p>
              <a:pPr algn="ctr">
                <a:lnSpc>
                  <a:spcPts val="2531"/>
                </a:lnSpc>
              </a:pPr>
              <a:r>
                <a:rPr lang="en-US" sz="1875">
                  <a:solidFill>
                    <a:srgbClr val="F8FAFC"/>
                  </a:solidFill>
                  <a:latin typeface="Open Sans"/>
                  <a:ea typeface="Open Sans"/>
                  <a:cs typeface="Open Sans"/>
                  <a:sym typeface="Open Sans"/>
                </a:rPr>
                <a:t>Offline model bundle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668000" y="523875"/>
            <a:ext cx="6858000" cy="9001125"/>
            <a:chOff x="0" y="0"/>
            <a:chExt cx="9144000" cy="12001500"/>
          </a:xfrm>
        </p:grpSpPr>
        <p:sp>
          <p:nvSpPr>
            <p:cNvPr name="AutoShape 3" id="3"/>
            <p:cNvSpPr/>
            <p:nvPr/>
          </p:nvSpPr>
          <p:spPr>
            <a:xfrm>
              <a:off x="0" y="444500"/>
              <a:ext cx="9144000" cy="0"/>
            </a:xfrm>
            <a:prstGeom prst="line">
              <a:avLst/>
            </a:prstGeom>
            <a:ln cap="flat" w="254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" id="4"/>
            <p:cNvSpPr/>
            <p:nvPr/>
          </p:nvSpPr>
          <p:spPr>
            <a:xfrm>
              <a:off x="889000" y="0"/>
              <a:ext cx="0" cy="12001500"/>
            </a:xfrm>
            <a:prstGeom prst="line">
              <a:avLst/>
            </a:prstGeom>
            <a:ln cap="flat" w="127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" id="5"/>
            <p:cNvSpPr/>
            <p:nvPr/>
          </p:nvSpPr>
          <p:spPr>
            <a:xfrm>
              <a:off x="889000" y="2286000"/>
              <a:ext cx="8255000" cy="0"/>
            </a:xfrm>
            <a:prstGeom prst="line">
              <a:avLst/>
            </a:prstGeom>
            <a:ln cap="flat" w="254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" id="6"/>
            <p:cNvSpPr/>
            <p:nvPr/>
          </p:nvSpPr>
          <p:spPr>
            <a:xfrm>
              <a:off x="2413000" y="0"/>
              <a:ext cx="0" cy="12001500"/>
            </a:xfrm>
            <a:prstGeom prst="line">
              <a:avLst/>
            </a:prstGeom>
            <a:ln cap="flat" w="127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" id="7"/>
            <p:cNvSpPr/>
            <p:nvPr/>
          </p:nvSpPr>
          <p:spPr>
            <a:xfrm>
              <a:off x="1778000" y="4127500"/>
              <a:ext cx="7366000" cy="0"/>
            </a:xfrm>
            <a:prstGeom prst="line">
              <a:avLst/>
            </a:prstGeom>
            <a:ln cap="flat" w="254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" id="8"/>
            <p:cNvSpPr/>
            <p:nvPr/>
          </p:nvSpPr>
          <p:spPr>
            <a:xfrm>
              <a:off x="3937000" y="0"/>
              <a:ext cx="0" cy="12001500"/>
            </a:xfrm>
            <a:prstGeom prst="line">
              <a:avLst/>
            </a:prstGeom>
            <a:ln cap="flat" w="127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" id="9"/>
            <p:cNvSpPr/>
            <p:nvPr/>
          </p:nvSpPr>
          <p:spPr>
            <a:xfrm>
              <a:off x="2667000" y="5969000"/>
              <a:ext cx="6477000" cy="0"/>
            </a:xfrm>
            <a:prstGeom prst="line">
              <a:avLst/>
            </a:prstGeom>
            <a:ln cap="flat" w="254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0" id="10"/>
            <p:cNvSpPr/>
            <p:nvPr/>
          </p:nvSpPr>
          <p:spPr>
            <a:xfrm>
              <a:off x="5461000" y="0"/>
              <a:ext cx="0" cy="12001500"/>
            </a:xfrm>
            <a:prstGeom prst="line">
              <a:avLst/>
            </a:prstGeom>
            <a:ln cap="flat" w="127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1" id="11"/>
            <p:cNvSpPr/>
            <p:nvPr/>
          </p:nvSpPr>
          <p:spPr>
            <a:xfrm>
              <a:off x="3556000" y="7810500"/>
              <a:ext cx="5588000" cy="0"/>
            </a:xfrm>
            <a:prstGeom prst="line">
              <a:avLst/>
            </a:prstGeom>
            <a:ln cap="flat" w="254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2" id="12"/>
            <p:cNvSpPr/>
            <p:nvPr/>
          </p:nvSpPr>
          <p:spPr>
            <a:xfrm>
              <a:off x="6985000" y="0"/>
              <a:ext cx="0" cy="12001500"/>
            </a:xfrm>
            <a:prstGeom prst="line">
              <a:avLst/>
            </a:prstGeom>
            <a:ln cap="flat" w="127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3" id="13"/>
            <p:cNvSpPr/>
            <p:nvPr/>
          </p:nvSpPr>
          <p:spPr>
            <a:xfrm>
              <a:off x="4445000" y="9652000"/>
              <a:ext cx="4699000" cy="0"/>
            </a:xfrm>
            <a:prstGeom prst="line">
              <a:avLst/>
            </a:prstGeom>
            <a:ln cap="flat" w="254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4" id="14"/>
            <p:cNvSpPr/>
            <p:nvPr/>
          </p:nvSpPr>
          <p:spPr>
            <a:xfrm>
              <a:off x="8509000" y="0"/>
              <a:ext cx="0" cy="12001500"/>
            </a:xfrm>
            <a:prstGeom prst="line">
              <a:avLst/>
            </a:prstGeom>
            <a:ln cap="flat" w="12700">
              <a:solidFill>
                <a:srgbClr val="06B6D4">
                  <a:alpha val="7843"/>
                </a:srgbClr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914400" y="819150"/>
            <a:ext cx="16459200" cy="694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98"/>
              </a:lnSpc>
            </a:pPr>
            <a:r>
              <a:rPr lang="en-US" sz="4350" b="true">
                <a:solidFill>
                  <a:srgbClr val="06B6D4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DeepFake ForensicAI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857500" y="2066925"/>
            <a:ext cx="12573000" cy="366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7"/>
              </a:lnSpc>
            </a:pPr>
            <a:r>
              <a:rPr lang="en-US" sz="2250">
                <a:solidFill>
                  <a:srgbClr val="F8FAFC"/>
                </a:solidFill>
                <a:latin typeface="Open Sans"/>
                <a:ea typeface="Open Sans"/>
                <a:cs typeface="Open Sans"/>
                <a:sym typeface="Open Sans"/>
              </a:rPr>
              <a:t>From Upload to Court — in One Workflow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000125" y="3714750"/>
            <a:ext cx="6191250" cy="4191000"/>
          </a:xfrm>
          <a:custGeom>
            <a:avLst/>
            <a:gdLst/>
            <a:ahLst/>
            <a:cxnLst/>
            <a:rect r="r" b="b" t="t" l="l"/>
            <a:pathLst>
              <a:path h="4191000" w="6191250">
                <a:moveTo>
                  <a:pt x="0" y="0"/>
                </a:moveTo>
                <a:lnTo>
                  <a:pt x="6191250" y="0"/>
                </a:lnTo>
                <a:lnTo>
                  <a:pt x="6191250" y="4191000"/>
                </a:lnTo>
                <a:lnTo>
                  <a:pt x="0" y="4191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9" t="0" r="-49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8" id="18"/>
          <p:cNvSpPr/>
          <p:nvPr/>
        </p:nvSpPr>
        <p:spPr>
          <a:xfrm flipH="false" flipV="false" rot="0">
            <a:off x="11239500" y="3714750"/>
            <a:ext cx="6000750" cy="4191000"/>
          </a:xfrm>
          <a:custGeom>
            <a:avLst/>
            <a:gdLst/>
            <a:ahLst/>
            <a:cxnLst/>
            <a:rect r="r" b="b" t="t" l="l"/>
            <a:pathLst>
              <a:path h="4191000" w="6000750">
                <a:moveTo>
                  <a:pt x="0" y="0"/>
                </a:moveTo>
                <a:lnTo>
                  <a:pt x="6000750" y="0"/>
                </a:lnTo>
                <a:lnTo>
                  <a:pt x="6000750" y="4191000"/>
                </a:lnTo>
                <a:lnTo>
                  <a:pt x="0" y="4191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5" t="0" r="-65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19" id="19"/>
          <p:cNvSpPr/>
          <p:nvPr/>
        </p:nvSpPr>
        <p:spPr>
          <a:xfrm>
            <a:off x="7524750" y="5810250"/>
            <a:ext cx="3333750" cy="0"/>
          </a:xfrm>
          <a:prstGeom prst="line">
            <a:avLst/>
          </a:prstGeom>
          <a:ln cap="rnd" w="28575">
            <a:solidFill>
              <a:srgbClr val="06B6D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0" id="20"/>
          <p:cNvSpPr txBox="true"/>
          <p:nvPr/>
        </p:nvSpPr>
        <p:spPr>
          <a:xfrm rot="0">
            <a:off x="2476500" y="8305800"/>
            <a:ext cx="13335000" cy="273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7"/>
              </a:lnSpc>
            </a:pPr>
            <a:r>
              <a:rPr lang="en-US" sz="1650">
                <a:solidFill>
                  <a:srgbClr val="67E8F9"/>
                </a:solidFill>
                <a:latin typeface="IBM Plex Mono"/>
                <a:ea typeface="IBM Plex Mono"/>
                <a:cs typeface="IBM Plex Mono"/>
                <a:sym typeface="IBM Plex Mono"/>
              </a:rPr>
              <a:t>Python | FastAPI | PyTorch | React 18 | IBM Bob | SHA-256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286000" y="9067800"/>
            <a:ext cx="13716000" cy="273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7"/>
              </a:lnSpc>
            </a:pPr>
            <a:r>
              <a:rPr lang="en-US" sz="1650">
                <a:solidFill>
                  <a:srgbClr val="F8FAFC"/>
                </a:solidFill>
                <a:latin typeface="IBM Plex Mono"/>
                <a:ea typeface="IBM Plex Mono"/>
                <a:cs typeface="IBM Plex Mono"/>
                <a:sym typeface="IBM Plex Mono"/>
              </a:rPr>
              <a:t>MTech AI — Dhruv Yadav | Harshil Vashita | Rishabh Narayan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DAHWd6YCkco</dc:identifier>
  <dcterms:modified xsi:type="dcterms:W3CDTF">2011-08-01T06:04:30Z</dcterms:modified>
  <cp:revision>1</cp:revision>
  <dc:title>DeepFake ForensicAI</dc:title>
</cp:coreProperties>
</file>